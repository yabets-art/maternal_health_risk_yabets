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3" r:id="rId29"/>
    <p:sldId id="281" r:id="rId30"/>
    <p:sldId id="282"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293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3E7C8C">
              <a:alpha val="22000"/>
            </a:srgbClr>
          </a:solidFill>
        </p:spPr>
      </p:sp>
      <p:sp>
        <p:nvSpPr>
          <p:cNvPr id="3" name="Shape 1"/>
          <p:cNvSpPr/>
          <p:nvPr/>
        </p:nvSpPr>
        <p:spPr>
          <a:xfrm>
            <a:off x="-1828800" y="4389120"/>
            <a:ext cx="4572000" cy="4572000"/>
          </a:xfrm>
          <a:prstGeom prst="ellipse">
            <a:avLst/>
          </a:prstGeom>
          <a:solidFill>
            <a:srgbClr val="E76F51">
              <a:alpha val="18000"/>
            </a:srgbClr>
          </a:solidFill>
        </p:spPr>
      </p:sp>
      <p:pic>
        <p:nvPicPr>
          <p:cNvPr id="4" name="Image 0" descr="/home/claude/ppt/docx_extracted/word/media/image1.png"/>
          <p:cNvPicPr>
            <a:picLocks noChangeAspect="1"/>
          </p:cNvPicPr>
          <p:nvPr/>
        </p:nvPicPr>
        <p:blipFill>
          <a:blip r:embed="rId1"/>
          <a:stretch>
            <a:fillRect/>
          </a:stretch>
        </p:blipFill>
        <p:spPr>
          <a:xfrm>
            <a:off x="2489200" y="197485"/>
            <a:ext cx="7315200" cy="1944370"/>
          </a:xfrm>
          <a:prstGeom prst="rect">
            <a:avLst/>
          </a:prstGeom>
          <a:effectLst>
            <a:glow rad="139700">
              <a:schemeClr val="accent5">
                <a:satMod val="175000"/>
                <a:alpha val="40000"/>
              </a:schemeClr>
            </a:glow>
          </a:effectLst>
        </p:spPr>
      </p:pic>
      <p:sp>
        <p:nvSpPr>
          <p:cNvPr id="5" name="Text 2"/>
          <p:cNvSpPr txBox="1"/>
          <p:nvPr/>
        </p:nvSpPr>
        <p:spPr>
          <a:xfrm>
            <a:off x="640080" y="2465070"/>
            <a:ext cx="9144000" cy="365760"/>
          </a:xfrm>
          <a:prstGeom prst="rect">
            <a:avLst/>
          </a:prstGeom>
          <a:noFill/>
        </p:spPr>
        <p:txBody>
          <a:bodyPr wrap="square" rtlCol="0" anchor="ctr"/>
          <a:lstStyle/>
          <a:p>
            <a:pPr marL="0" indent="0">
              <a:buNone/>
            </a:pPr>
            <a:r>
              <a:rPr lang="en-US" sz="1400" b="1" kern="0" spc="300" dirty="0">
                <a:solidFill>
                  <a:srgbClr val="8FD4C1"/>
                </a:solidFill>
                <a:latin typeface="Calibri" panose="020F0502020204030204" pitchFamily="34" charset="0"/>
                <a:ea typeface="Calibri" panose="020F0502020204030204" pitchFamily="34" charset="-122"/>
                <a:cs typeface="Calibri" panose="020F0502020204030204" pitchFamily="34" charset="-120"/>
              </a:rPr>
              <a:t>PROJECT PRESENTATION</a:t>
            </a:r>
            <a:endParaRPr lang="en-US" sz="1400" dirty="0"/>
          </a:p>
        </p:txBody>
      </p:sp>
      <p:sp>
        <p:nvSpPr>
          <p:cNvPr id="6" name="Text 3"/>
          <p:cNvSpPr txBox="1"/>
          <p:nvPr/>
        </p:nvSpPr>
        <p:spPr>
          <a:xfrm>
            <a:off x="640080" y="2697480"/>
            <a:ext cx="10881360" cy="1737360"/>
          </a:xfrm>
          <a:prstGeom prst="rect">
            <a:avLst/>
          </a:prstGeom>
          <a:noFill/>
        </p:spPr>
        <p:txBody>
          <a:bodyPr wrap="square" rtlCol="0" anchor="ctr"/>
          <a:lstStyle/>
          <a:p>
            <a:pPr marL="0" indent="0">
              <a:lnSpc>
                <a:spcPct val="108000"/>
              </a:lnSpc>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Predictive Modeling and Data Engineering Pipelines for Maternal Health Risk Stratification</a:t>
            </a:r>
            <a:endParaRPr lang="en-US" sz="3400" dirty="0"/>
          </a:p>
        </p:txBody>
      </p:sp>
      <p:sp>
        <p:nvSpPr>
          <p:cNvPr id="7" name="Text 4"/>
          <p:cNvSpPr txBox="1"/>
          <p:nvPr/>
        </p:nvSpPr>
        <p:spPr>
          <a:xfrm>
            <a:off x="640080" y="3977640"/>
            <a:ext cx="10881360" cy="548640"/>
          </a:xfrm>
          <a:prstGeom prst="rect">
            <a:avLst/>
          </a:prstGeom>
          <a:noFill/>
        </p:spPr>
        <p:txBody>
          <a:bodyPr wrap="square" rtlCol="0" anchor="ctr"/>
          <a:lstStyle/>
          <a:p>
            <a:pPr marL="0" indent="0">
              <a:buNone/>
            </a:pPr>
            <a:r>
              <a:rPr lang="en-US" sz="2000" i="1" dirty="0">
                <a:solidFill>
                  <a:srgbClr val="C9D8DC"/>
                </a:solidFill>
                <a:latin typeface="Cambria" panose="02040503050406030204" pitchFamily="34" charset="0"/>
                <a:ea typeface="Cambria" panose="02040503050406030204" pitchFamily="34" charset="-122"/>
                <a:cs typeface="Cambria" panose="02040503050406030204" pitchFamily="34" charset="-120"/>
              </a:rPr>
              <a:t>in Low-Resource Public Health Frameworks</a:t>
            </a:r>
            <a:endParaRPr lang="en-US" sz="2000" dirty="0"/>
          </a:p>
        </p:txBody>
      </p:sp>
      <p:sp>
        <p:nvSpPr>
          <p:cNvPr id="8" name="Shape 5"/>
          <p:cNvSpPr/>
          <p:nvPr/>
        </p:nvSpPr>
        <p:spPr>
          <a:xfrm>
            <a:off x="640080" y="4892040"/>
            <a:ext cx="3840480" cy="0"/>
          </a:xfrm>
          <a:prstGeom prst="line">
            <a:avLst/>
          </a:prstGeom>
          <a:noFill/>
          <a:ln w="25400">
            <a:solidFill>
              <a:srgbClr val="E76F51"/>
            </a:solidFill>
            <a:prstDash val="solid"/>
          </a:ln>
        </p:spPr>
      </p:sp>
      <p:sp>
        <p:nvSpPr>
          <p:cNvPr id="9" name="Text 6"/>
          <p:cNvSpPr txBox="1"/>
          <p:nvPr/>
        </p:nvSpPr>
        <p:spPr>
          <a:xfrm>
            <a:off x="640080" y="5120640"/>
            <a:ext cx="7315200" cy="1371600"/>
          </a:xfrm>
          <a:prstGeom prst="rect">
            <a:avLst/>
          </a:prstGeom>
          <a:noFill/>
        </p:spPr>
        <p:txBody>
          <a:bodyPr wrap="square" rtlCol="0" anchor="ctr"/>
          <a:lstStyle/>
          <a:p>
            <a:pPr marL="0" indent="0">
              <a:spcAft>
                <a:spcPts val="400"/>
              </a:spcAft>
              <a:buNone/>
            </a:pPr>
            <a:r>
              <a:rPr lang="en-US" sz="1400" b="1" dirty="0">
                <a:solidFill>
                  <a:srgbClr val="E4ECEE"/>
                </a:solidFill>
                <a:latin typeface="Calibri" panose="020F0502020204030204" pitchFamily="34" charset="0"/>
                <a:ea typeface="Calibri" panose="020F0502020204030204" pitchFamily="34" charset="-122"/>
                <a:cs typeface="Calibri" panose="020F0502020204030204" pitchFamily="34" charset="-120"/>
              </a:rPr>
              <a:t>Yabets Desalegn</a:t>
            </a:r>
            <a:endParaRPr lang="en-US" sz="1400" dirty="0"/>
          </a:p>
          <a:p>
            <a:pPr marL="0" indent="0">
              <a:spcAft>
                <a:spcPts val="400"/>
              </a:spcAft>
              <a:buNone/>
            </a:pPr>
            <a:r>
              <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rPr>
              <a:t>Student ID: GSE9850/18</a:t>
            </a:r>
            <a:endParaRPr lang="en-US" sz="1400" dirty="0"/>
          </a:p>
          <a:p>
            <a:pPr marL="0" indent="0">
              <a:spcAft>
                <a:spcPts val="400"/>
              </a:spcAft>
              <a:buNone/>
            </a:pPr>
            <a:r>
              <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rPr>
              <a:t>Course: Data Management and Engineering</a:t>
            </a:r>
            <a:endParaRPr lang="en-US" sz="1400" dirty="0"/>
          </a:p>
          <a:p>
            <a:pPr marL="0" indent="0">
              <a:spcAft>
                <a:spcPts val="400"/>
              </a:spcAft>
              <a:buNone/>
            </a:pPr>
            <a:r>
              <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rPr>
              <a:t>August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OVERVIEW</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Agenda</a:t>
            </a:r>
            <a:endParaRPr lang="en-US" sz="3000" dirty="0"/>
          </a:p>
        </p:txBody>
      </p:sp>
      <p:sp>
        <p:nvSpPr>
          <p:cNvPr id="4" name="Shape 2"/>
          <p:cNvSpPr/>
          <p:nvPr/>
        </p:nvSpPr>
        <p:spPr>
          <a:xfrm>
            <a:off x="548640" y="1691640"/>
            <a:ext cx="5394960" cy="530352"/>
          </a:xfrm>
          <a:prstGeom prst="roundRect">
            <a:avLst>
              <a:gd name="adj" fmla="val 12069"/>
            </a:avLst>
          </a:prstGeom>
          <a:solidFill>
            <a:srgbClr val="FFFFFF"/>
          </a:solidFill>
          <a:ln w="12700">
            <a:solidFill>
              <a:srgbClr val="DCE7EA"/>
            </a:solidFill>
            <a:prstDash val="solid"/>
          </a:ln>
        </p:spPr>
      </p:sp>
      <p:sp>
        <p:nvSpPr>
          <p:cNvPr id="5" name="Text 3"/>
          <p:cNvSpPr txBox="1"/>
          <p:nvPr/>
        </p:nvSpPr>
        <p:spPr>
          <a:xfrm>
            <a:off x="685800" y="1691640"/>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01</a:t>
            </a:r>
            <a:endParaRPr lang="en-US" sz="2000" dirty="0"/>
          </a:p>
        </p:txBody>
      </p:sp>
      <p:sp>
        <p:nvSpPr>
          <p:cNvPr id="6" name="Text 4"/>
          <p:cNvSpPr txBox="1"/>
          <p:nvPr/>
        </p:nvSpPr>
        <p:spPr>
          <a:xfrm>
            <a:off x="1325880" y="1691640"/>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Problem, Objectives &amp; Research Questions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548640" y="2350008"/>
            <a:ext cx="5394960" cy="530352"/>
          </a:xfrm>
          <a:prstGeom prst="roundRect">
            <a:avLst>
              <a:gd name="adj" fmla="val 12069"/>
            </a:avLst>
          </a:prstGeom>
          <a:solidFill>
            <a:srgbClr val="FFFFFF"/>
          </a:solidFill>
          <a:ln w="12700">
            <a:solidFill>
              <a:srgbClr val="DCE7EA"/>
            </a:solidFill>
            <a:prstDash val="solid"/>
          </a:ln>
        </p:spPr>
      </p:sp>
      <p:sp>
        <p:nvSpPr>
          <p:cNvPr id="8" name="Text 6"/>
          <p:cNvSpPr txBox="1"/>
          <p:nvPr/>
        </p:nvSpPr>
        <p:spPr>
          <a:xfrm>
            <a:off x="685800" y="2350008"/>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02</a:t>
            </a:r>
            <a:endParaRPr lang="en-US" sz="2000" dirty="0"/>
          </a:p>
        </p:txBody>
      </p:sp>
      <p:sp>
        <p:nvSpPr>
          <p:cNvPr id="9" name="Text 7"/>
          <p:cNvSpPr txBox="1"/>
          <p:nvPr/>
        </p:nvSpPr>
        <p:spPr>
          <a:xfrm>
            <a:off x="1325880" y="2350008"/>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Related Works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48640" y="3008376"/>
            <a:ext cx="5394960" cy="530352"/>
          </a:xfrm>
          <a:prstGeom prst="roundRect">
            <a:avLst>
              <a:gd name="adj" fmla="val 12069"/>
            </a:avLst>
          </a:prstGeom>
          <a:solidFill>
            <a:srgbClr val="FFFFFF"/>
          </a:solidFill>
          <a:ln w="12700">
            <a:solidFill>
              <a:srgbClr val="DCE7EA"/>
            </a:solidFill>
            <a:prstDash val="solid"/>
          </a:ln>
        </p:spPr>
      </p:sp>
      <p:sp>
        <p:nvSpPr>
          <p:cNvPr id="11" name="Text 9"/>
          <p:cNvSpPr txBox="1"/>
          <p:nvPr/>
        </p:nvSpPr>
        <p:spPr>
          <a:xfrm>
            <a:off x="685800" y="3008376"/>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03</a:t>
            </a:r>
            <a:endParaRPr lang="en-US" sz="2000" dirty="0"/>
          </a:p>
        </p:txBody>
      </p:sp>
      <p:sp>
        <p:nvSpPr>
          <p:cNvPr id="12" name="Text 10"/>
          <p:cNvSpPr txBox="1"/>
          <p:nvPr/>
        </p:nvSpPr>
        <p:spPr>
          <a:xfrm>
            <a:off x="1325880" y="3008376"/>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Dataset &amp; Data Preparation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548640" y="3666744"/>
            <a:ext cx="5394960" cy="530352"/>
          </a:xfrm>
          <a:prstGeom prst="roundRect">
            <a:avLst>
              <a:gd name="adj" fmla="val 12069"/>
            </a:avLst>
          </a:prstGeom>
          <a:solidFill>
            <a:srgbClr val="FFFFFF"/>
          </a:solidFill>
          <a:ln w="12700">
            <a:solidFill>
              <a:srgbClr val="DCE7EA"/>
            </a:solidFill>
            <a:prstDash val="solid"/>
          </a:ln>
        </p:spPr>
      </p:sp>
      <p:sp>
        <p:nvSpPr>
          <p:cNvPr id="14" name="Text 12"/>
          <p:cNvSpPr txBox="1"/>
          <p:nvPr/>
        </p:nvSpPr>
        <p:spPr>
          <a:xfrm>
            <a:off x="685800" y="3666744"/>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04</a:t>
            </a:r>
            <a:endParaRPr lang="en-US" sz="2000" dirty="0"/>
          </a:p>
        </p:txBody>
      </p:sp>
      <p:sp>
        <p:nvSpPr>
          <p:cNvPr id="15" name="Text 13"/>
          <p:cNvSpPr txBox="1"/>
          <p:nvPr/>
        </p:nvSpPr>
        <p:spPr>
          <a:xfrm>
            <a:off x="1325880" y="3666744"/>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Methodology &amp; Model Selection Protocol</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6400800" y="1691640"/>
            <a:ext cx="5394960" cy="530352"/>
          </a:xfrm>
          <a:prstGeom prst="roundRect">
            <a:avLst>
              <a:gd name="adj" fmla="val 12069"/>
            </a:avLst>
          </a:prstGeom>
          <a:solidFill>
            <a:srgbClr val="FFFFFF"/>
          </a:solidFill>
          <a:ln w="12700">
            <a:solidFill>
              <a:srgbClr val="DCE7EA"/>
            </a:solidFill>
            <a:prstDash val="solid"/>
          </a:ln>
        </p:spPr>
      </p:sp>
      <p:sp>
        <p:nvSpPr>
          <p:cNvPr id="17" name="Text 15"/>
          <p:cNvSpPr txBox="1"/>
          <p:nvPr/>
        </p:nvSpPr>
        <p:spPr>
          <a:xfrm>
            <a:off x="6537960" y="1691640"/>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05</a:t>
            </a:r>
            <a:endParaRPr lang="en-US" sz="2000" dirty="0"/>
          </a:p>
        </p:txBody>
      </p:sp>
      <p:sp>
        <p:nvSpPr>
          <p:cNvPr id="18" name="Text 16"/>
          <p:cNvSpPr txBox="1"/>
          <p:nvPr/>
        </p:nvSpPr>
        <p:spPr>
          <a:xfrm>
            <a:off x="7178040" y="1691640"/>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Experimental Results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6400800" y="2350008"/>
            <a:ext cx="5394960" cy="530352"/>
          </a:xfrm>
          <a:prstGeom prst="roundRect">
            <a:avLst>
              <a:gd name="adj" fmla="val 12069"/>
            </a:avLst>
          </a:prstGeom>
          <a:solidFill>
            <a:srgbClr val="FFFFFF"/>
          </a:solidFill>
          <a:ln w="12700">
            <a:solidFill>
              <a:srgbClr val="DCE7EA"/>
            </a:solidFill>
            <a:prstDash val="solid"/>
          </a:ln>
        </p:spPr>
      </p:sp>
      <p:sp>
        <p:nvSpPr>
          <p:cNvPr id="20" name="Text 18"/>
          <p:cNvSpPr txBox="1"/>
          <p:nvPr/>
        </p:nvSpPr>
        <p:spPr>
          <a:xfrm>
            <a:off x="6537960" y="2350008"/>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06</a:t>
            </a:r>
            <a:endParaRPr lang="en-US" sz="2000" dirty="0"/>
          </a:p>
        </p:txBody>
      </p:sp>
      <p:sp>
        <p:nvSpPr>
          <p:cNvPr id="21" name="Text 19"/>
          <p:cNvSpPr txBox="1"/>
          <p:nvPr/>
        </p:nvSpPr>
        <p:spPr>
          <a:xfrm>
            <a:off x="7178040" y="2350008"/>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Interpretation &amp; Validity Checks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6400800" y="3008376"/>
            <a:ext cx="5394960" cy="530352"/>
          </a:xfrm>
          <a:prstGeom prst="roundRect">
            <a:avLst>
              <a:gd name="adj" fmla="val 12069"/>
            </a:avLst>
          </a:prstGeom>
          <a:solidFill>
            <a:srgbClr val="FFFFFF"/>
          </a:solidFill>
          <a:ln w="12700">
            <a:solidFill>
              <a:srgbClr val="DCE7EA"/>
            </a:solidFill>
            <a:prstDash val="solid"/>
          </a:ln>
        </p:spPr>
      </p:sp>
      <p:sp>
        <p:nvSpPr>
          <p:cNvPr id="23" name="Text 21"/>
          <p:cNvSpPr txBox="1"/>
          <p:nvPr/>
        </p:nvSpPr>
        <p:spPr>
          <a:xfrm>
            <a:off x="6537960" y="3008376"/>
            <a:ext cx="640080" cy="530352"/>
          </a:xfrm>
          <a:prstGeom prst="rect">
            <a:avLst/>
          </a:prstGeom>
          <a:noFill/>
        </p:spPr>
        <p:txBody>
          <a:bodyPr wrap="square" rtlCol="0" anchor="ctr"/>
          <a:lstStyle/>
          <a:p>
            <a:pPr marL="0" indent="0">
              <a:buNone/>
            </a:pPr>
            <a:r>
              <a:rPr lang="en-US" sz="2000" b="1" dirty="0">
                <a:solidFill>
                  <a:srgbClr val="E76F51"/>
                </a:solidFill>
                <a:latin typeface="Cambria" panose="02040503050406030204" pitchFamily="34" charset="0"/>
                <a:ea typeface="Cambria" panose="02040503050406030204" pitchFamily="34" charset="-122"/>
                <a:cs typeface="Cambria" panose="02040503050406030204" pitchFamily="34" charset="-120"/>
              </a:rPr>
              <a:t>07</a:t>
            </a:r>
            <a:endParaRPr lang="en-US" sz="2000" dirty="0"/>
          </a:p>
        </p:txBody>
      </p:sp>
      <p:sp>
        <p:nvSpPr>
          <p:cNvPr id="24" name="Text 22"/>
          <p:cNvSpPr txBox="1"/>
          <p:nvPr/>
        </p:nvSpPr>
        <p:spPr>
          <a:xfrm>
            <a:off x="7178040" y="3008376"/>
            <a:ext cx="4480560" cy="530352"/>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Conclusions &amp; Way Forward</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26" name="Text 24"/>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01 · INTRODUCTION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Problem Statement &amp; Motivation</a:t>
            </a:r>
            <a:endParaRPr lang="en-US" sz="3000" dirty="0"/>
          </a:p>
        </p:txBody>
      </p:sp>
      <p:sp>
        <p:nvSpPr>
          <p:cNvPr id="4" name="Shape 2"/>
          <p:cNvSpPr/>
          <p:nvPr/>
        </p:nvSpPr>
        <p:spPr>
          <a:xfrm>
            <a:off x="548640" y="1600200"/>
            <a:ext cx="6492240" cy="4480560"/>
          </a:xfrm>
          <a:prstGeom prst="roundRect">
            <a:avLst>
              <a:gd name="adj" fmla="val 1633"/>
            </a:avLst>
          </a:prstGeom>
          <a:solidFill>
            <a:srgbClr val="FFFFFF"/>
          </a:solidFill>
          <a:ln w="12700">
            <a:solidFill>
              <a:srgbClr val="DCE7EA"/>
            </a:solidFill>
            <a:prstDash val="solid"/>
          </a:ln>
        </p:spPr>
      </p:sp>
      <p:sp>
        <p:nvSpPr>
          <p:cNvPr id="5" name="Text 3"/>
          <p:cNvSpPr txBox="1"/>
          <p:nvPr/>
        </p:nvSpPr>
        <p:spPr>
          <a:xfrm>
            <a:off x="868680" y="1828800"/>
            <a:ext cx="5943600" cy="4023360"/>
          </a:xfrm>
          <a:prstGeom prst="rect">
            <a:avLst/>
          </a:prstGeom>
          <a:noFill/>
        </p:spPr>
        <p:txBody>
          <a:bodyPr wrap="square" rtlCol="0" anchor="t"/>
          <a:lstStyle/>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Reducing maternal mortality is directly tied to Sustainable Development Goal 3.</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Pregnant women in low-resource settings often lack continuous clinical supervision.</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Early risk indicators - abnormal blood pressure, glucose, heart rate, or fever - frequently go undetected until a crisis emerges.</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Low-cost IoT sensing now allows basic vital-sign collection in remote areas.</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Manually interpreting six or more combined vital signs is difficult for non-specialist health workers.</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This motivates an automated, machine-learning-based risk stratification pipeline.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7315200" y="1600200"/>
            <a:ext cx="4297680" cy="1371600"/>
          </a:xfrm>
          <a:prstGeom prst="roundRect">
            <a:avLst>
              <a:gd name="adj" fmla="val 5333"/>
            </a:avLst>
          </a:prstGeom>
          <a:solidFill>
            <a:srgbClr val="FFFFFF"/>
          </a:solidFill>
          <a:ln w="12700">
            <a:solidFill>
              <a:srgbClr val="DCE7EA"/>
            </a:solidFill>
            <a:prstDash val="solid"/>
          </a:ln>
        </p:spPr>
      </p:sp>
      <p:sp>
        <p:nvSpPr>
          <p:cNvPr id="7" name="Text 5"/>
          <p:cNvSpPr txBox="1"/>
          <p:nvPr/>
        </p:nvSpPr>
        <p:spPr>
          <a:xfrm>
            <a:off x="7315200" y="1709928"/>
            <a:ext cx="4297680" cy="868680"/>
          </a:xfrm>
          <a:prstGeom prst="rect">
            <a:avLst/>
          </a:prstGeom>
          <a:noFill/>
        </p:spPr>
        <p:txBody>
          <a:bodyPr wrap="square" rtlCol="0" anchor="ctr"/>
          <a:lstStyle/>
          <a:p>
            <a:pPr marL="0" indent="0" algn="ctr">
              <a:buNone/>
            </a:pPr>
            <a:r>
              <a:rPr lang="en-US" sz="3000" b="1" dirty="0">
                <a:solidFill>
                  <a:srgbClr val="E76F51"/>
                </a:solidFill>
                <a:latin typeface="Cambria" panose="02040503050406030204" pitchFamily="34" charset="0"/>
                <a:ea typeface="Cambria" panose="02040503050406030204" pitchFamily="34" charset="-122"/>
                <a:cs typeface="Cambria" panose="02040503050406030204" pitchFamily="34" charset="-120"/>
              </a:rPr>
              <a:t>SDG 3</a:t>
            </a:r>
            <a:endParaRPr lang="en-US" sz="3000" dirty="0"/>
          </a:p>
        </p:txBody>
      </p:sp>
      <p:sp>
        <p:nvSpPr>
          <p:cNvPr id="8" name="Text 6"/>
          <p:cNvSpPr txBox="1"/>
          <p:nvPr/>
        </p:nvSpPr>
        <p:spPr>
          <a:xfrm>
            <a:off x="7406640" y="2452370"/>
            <a:ext cx="411480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Directly tied to the UN Sustainable</a:t>
            </a:r>
            <a:endParaRPr lang="en-US" sz="1600" dirty="0"/>
          </a:p>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Development Goal on health</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7315200" y="3108960"/>
            <a:ext cx="4297680" cy="1371600"/>
          </a:xfrm>
          <a:prstGeom prst="roundRect">
            <a:avLst>
              <a:gd name="adj" fmla="val 5333"/>
            </a:avLst>
          </a:prstGeom>
          <a:solidFill>
            <a:srgbClr val="FFFFFF"/>
          </a:solidFill>
          <a:ln w="12700">
            <a:solidFill>
              <a:srgbClr val="DCE7EA"/>
            </a:solidFill>
            <a:prstDash val="solid"/>
          </a:ln>
        </p:spPr>
      </p:sp>
      <p:sp>
        <p:nvSpPr>
          <p:cNvPr id="10" name="Text 8"/>
          <p:cNvSpPr txBox="1"/>
          <p:nvPr/>
        </p:nvSpPr>
        <p:spPr>
          <a:xfrm>
            <a:off x="7315200" y="3218688"/>
            <a:ext cx="4297680" cy="86868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IoT</a:t>
            </a:r>
            <a:endParaRPr lang="en-US" sz="3000" dirty="0"/>
          </a:p>
        </p:txBody>
      </p:sp>
      <p:sp>
        <p:nvSpPr>
          <p:cNvPr id="11" name="Text 9"/>
          <p:cNvSpPr txBox="1"/>
          <p:nvPr/>
        </p:nvSpPr>
        <p:spPr>
          <a:xfrm>
            <a:off x="7406640" y="3970020"/>
            <a:ext cx="411480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Low-cost sensing enables remote</a:t>
            </a:r>
            <a:endParaRPr lang="en-US" sz="1600" dirty="0"/>
          </a:p>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vital-sign monitoring</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7315200" y="4617720"/>
            <a:ext cx="4297680" cy="1371600"/>
          </a:xfrm>
          <a:prstGeom prst="roundRect">
            <a:avLst>
              <a:gd name="adj" fmla="val 5333"/>
            </a:avLst>
          </a:prstGeom>
          <a:solidFill>
            <a:srgbClr val="FFFFFF"/>
          </a:solidFill>
          <a:ln w="12700">
            <a:solidFill>
              <a:srgbClr val="DCE7EA"/>
            </a:solidFill>
            <a:prstDash val="solid"/>
          </a:ln>
        </p:spPr>
      </p:sp>
      <p:sp>
        <p:nvSpPr>
          <p:cNvPr id="13" name="Text 11"/>
          <p:cNvSpPr txBox="1"/>
          <p:nvPr/>
        </p:nvSpPr>
        <p:spPr>
          <a:xfrm>
            <a:off x="7315200" y="4727448"/>
            <a:ext cx="4297680" cy="868680"/>
          </a:xfrm>
          <a:prstGeom prst="rect">
            <a:avLst/>
          </a:prstGeom>
          <a:noFill/>
        </p:spPr>
        <p:txBody>
          <a:bodyPr wrap="square" rtlCol="0" anchor="ctr"/>
          <a:lstStyle/>
          <a:p>
            <a:pPr marL="0" indent="0" algn="ctr">
              <a:buNone/>
            </a:pPr>
            <a:r>
              <a:rPr lang="en-US" sz="3000" b="1" dirty="0">
                <a:solidFill>
                  <a:srgbClr val="3E7C8C"/>
                </a:solidFill>
                <a:latin typeface="Cambria" panose="02040503050406030204" pitchFamily="34" charset="0"/>
                <a:ea typeface="Cambria" panose="02040503050406030204" pitchFamily="34" charset="-122"/>
                <a:cs typeface="Cambria" panose="02040503050406030204" pitchFamily="34" charset="-120"/>
              </a:rPr>
              <a:t>6+</a:t>
            </a:r>
            <a:endParaRPr lang="en-US" sz="3000" dirty="0"/>
          </a:p>
        </p:txBody>
      </p:sp>
      <p:sp>
        <p:nvSpPr>
          <p:cNvPr id="14" name="Text 12"/>
          <p:cNvSpPr txBox="1"/>
          <p:nvPr/>
        </p:nvSpPr>
        <p:spPr>
          <a:xfrm>
            <a:off x="7406640" y="5461000"/>
            <a:ext cx="411480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Vital signs a health worker must</a:t>
            </a:r>
            <a:endParaRPr lang="en-US" sz="1600" dirty="0"/>
          </a:p>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mentally combine per patient</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txBox="1"/>
          <p:nvPr/>
        </p:nvSpPr>
        <p:spPr>
          <a:xfrm>
            <a:off x="457200" y="6473952"/>
            <a:ext cx="7315200" cy="274320"/>
          </a:xfrm>
          <a:prstGeom prst="rect">
            <a:avLst/>
          </a:prstGeom>
          <a:noFill/>
        </p:spPr>
        <p:txBody>
          <a:bodyPr wrap="square" rtlCol="0" anchor="ctr"/>
          <a:lstStyle/>
          <a:p>
            <a:pPr marL="0" indent="0" algn="l">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01 · INTRODUCTION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Project Objectives</a:t>
            </a:r>
            <a:endParaRPr lang="en-US" sz="3000" dirty="0"/>
          </a:p>
        </p:txBody>
      </p:sp>
      <p:sp>
        <p:nvSpPr>
          <p:cNvPr id="4" name="Shape 2"/>
          <p:cNvSpPr/>
          <p:nvPr/>
        </p:nvSpPr>
        <p:spPr>
          <a:xfrm>
            <a:off x="548640" y="1691640"/>
            <a:ext cx="502920" cy="502920"/>
          </a:xfrm>
          <a:prstGeom prst="roundRect">
            <a:avLst>
              <a:gd name="adj" fmla="val 50909"/>
            </a:avLst>
          </a:prstGeom>
          <a:solidFill>
            <a:srgbClr val="0B3D57"/>
          </a:solidFill>
        </p:spPr>
      </p:sp>
      <p:sp>
        <p:nvSpPr>
          <p:cNvPr id="5" name="Text 3"/>
          <p:cNvSpPr txBox="1"/>
          <p:nvPr/>
        </p:nvSpPr>
        <p:spPr>
          <a:xfrm>
            <a:off x="548640" y="1691640"/>
            <a:ext cx="502920" cy="50292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1600" dirty="0"/>
          </a:p>
        </p:txBody>
      </p:sp>
      <p:sp>
        <p:nvSpPr>
          <p:cNvPr id="6" name="Text 4"/>
          <p:cNvSpPr txBox="1"/>
          <p:nvPr/>
        </p:nvSpPr>
        <p:spPr>
          <a:xfrm>
            <a:off x="1234440" y="1636776"/>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Build a reproducible, leakage-safe data engineering pipeline for cleaning, auditing, and engineering features from raw maternal vital-sign data.</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548640" y="2624328"/>
            <a:ext cx="502920" cy="502920"/>
          </a:xfrm>
          <a:prstGeom prst="roundRect">
            <a:avLst>
              <a:gd name="adj" fmla="val 50909"/>
            </a:avLst>
          </a:prstGeom>
          <a:solidFill>
            <a:srgbClr val="3E7C8C"/>
          </a:solidFill>
        </p:spPr>
      </p:sp>
      <p:sp>
        <p:nvSpPr>
          <p:cNvPr id="8" name="Text 6"/>
          <p:cNvSpPr txBox="1"/>
          <p:nvPr/>
        </p:nvSpPr>
        <p:spPr>
          <a:xfrm>
            <a:off x="548640" y="2624328"/>
            <a:ext cx="502920" cy="50292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1600" dirty="0"/>
          </a:p>
        </p:txBody>
      </p:sp>
      <p:sp>
        <p:nvSpPr>
          <p:cNvPr id="9" name="Text 7"/>
          <p:cNvSpPr txBox="1"/>
          <p:nvPr/>
        </p:nvSpPr>
        <p:spPr>
          <a:xfrm>
            <a:off x="1234440" y="2569464"/>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Train and rigorously compare seven ML/DL-style algorithms for three-class maternal risk classification.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48640" y="3557016"/>
            <a:ext cx="502920" cy="502920"/>
          </a:xfrm>
          <a:prstGeom prst="roundRect">
            <a:avLst>
              <a:gd name="adj" fmla="val 50909"/>
            </a:avLst>
          </a:prstGeom>
          <a:solidFill>
            <a:srgbClr val="0B3D57"/>
          </a:solidFill>
        </p:spPr>
      </p:sp>
      <p:sp>
        <p:nvSpPr>
          <p:cNvPr id="11" name="Text 9"/>
          <p:cNvSpPr txBox="1"/>
          <p:nvPr/>
        </p:nvSpPr>
        <p:spPr>
          <a:xfrm>
            <a:off x="548640" y="3557016"/>
            <a:ext cx="502920" cy="50292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600" dirty="0"/>
          </a:p>
        </p:txBody>
      </p:sp>
      <p:sp>
        <p:nvSpPr>
          <p:cNvPr id="12" name="Text 10"/>
          <p:cNvSpPr txBox="1"/>
          <p:nvPr/>
        </p:nvSpPr>
        <p:spPr>
          <a:xfrm>
            <a:off x="1234440" y="3502152"/>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Select a final model using cross-validation-only selection ,never test-set-driven model shopping.</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548640" y="4489704"/>
            <a:ext cx="502920" cy="502920"/>
          </a:xfrm>
          <a:prstGeom prst="roundRect">
            <a:avLst>
              <a:gd name="adj" fmla="val 50909"/>
            </a:avLst>
          </a:prstGeom>
          <a:solidFill>
            <a:srgbClr val="3E7C8C"/>
          </a:solidFill>
        </p:spPr>
      </p:sp>
      <p:sp>
        <p:nvSpPr>
          <p:cNvPr id="14" name="Text 12"/>
          <p:cNvSpPr txBox="1"/>
          <p:nvPr/>
        </p:nvSpPr>
        <p:spPr>
          <a:xfrm>
            <a:off x="548640" y="4489704"/>
            <a:ext cx="502920" cy="50292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1600" dirty="0"/>
          </a:p>
        </p:txBody>
      </p:sp>
      <p:sp>
        <p:nvSpPr>
          <p:cNvPr id="15" name="Text 13"/>
          <p:cNvSpPr txBox="1"/>
          <p:nvPr/>
        </p:nvSpPr>
        <p:spPr>
          <a:xfrm>
            <a:off x="1234440" y="4434840"/>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Interpret the selected model with multiple complementary techniques: native importance, permutation importance, learning curves, and error analysis.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48640" y="5422392"/>
            <a:ext cx="502920" cy="502920"/>
          </a:xfrm>
          <a:prstGeom prst="roundRect">
            <a:avLst>
              <a:gd name="adj" fmla="val 50909"/>
            </a:avLst>
          </a:prstGeom>
          <a:solidFill>
            <a:srgbClr val="0B3D57"/>
          </a:solidFill>
        </p:spPr>
      </p:sp>
      <p:sp>
        <p:nvSpPr>
          <p:cNvPr id="17" name="Text 15"/>
          <p:cNvSpPr txBox="1"/>
          <p:nvPr/>
        </p:nvSpPr>
        <p:spPr>
          <a:xfrm>
            <a:off x="548640" y="5422392"/>
            <a:ext cx="502920" cy="50292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5</a:t>
            </a:r>
            <a:endParaRPr lang="en-US" sz="1600" dirty="0"/>
          </a:p>
        </p:txBody>
      </p:sp>
      <p:sp>
        <p:nvSpPr>
          <p:cNvPr id="18" name="Text 16"/>
          <p:cNvSpPr txBox="1"/>
          <p:nvPr/>
        </p:nvSpPr>
        <p:spPr>
          <a:xfrm>
            <a:off x="1234440" y="5367528"/>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Critically assess strengths, weaknesses, and responsible-use boundaries for low-resource deployment.</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20" name="Text 18"/>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01 · INTRODUCTION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Six Research Questions</a:t>
            </a:r>
            <a:endParaRPr lang="en-US" sz="3000" dirty="0"/>
          </a:p>
        </p:txBody>
      </p:sp>
      <p:sp>
        <p:nvSpPr>
          <p:cNvPr id="4" name="Shape 2"/>
          <p:cNvSpPr/>
          <p:nvPr/>
        </p:nvSpPr>
        <p:spPr>
          <a:xfrm>
            <a:off x="548640" y="1600200"/>
            <a:ext cx="5440680" cy="1572768"/>
          </a:xfrm>
          <a:prstGeom prst="roundRect">
            <a:avLst>
              <a:gd name="adj" fmla="val 4651"/>
            </a:avLst>
          </a:prstGeom>
          <a:solidFill>
            <a:srgbClr val="FFFFFF"/>
          </a:solidFill>
          <a:ln w="12700">
            <a:solidFill>
              <a:srgbClr val="DCE7EA"/>
            </a:solidFill>
            <a:prstDash val="solid"/>
          </a:ln>
        </p:spPr>
      </p:sp>
      <p:sp>
        <p:nvSpPr>
          <p:cNvPr id="5" name="Shape 3"/>
          <p:cNvSpPr/>
          <p:nvPr/>
        </p:nvSpPr>
        <p:spPr>
          <a:xfrm>
            <a:off x="731520" y="1783080"/>
            <a:ext cx="566928" cy="292608"/>
          </a:xfrm>
          <a:prstGeom prst="roundRect">
            <a:avLst>
              <a:gd name="adj" fmla="val 18750"/>
            </a:avLst>
          </a:prstGeom>
          <a:solidFill>
            <a:srgbClr val="E76F51"/>
          </a:solidFill>
        </p:spPr>
      </p:sp>
      <p:sp>
        <p:nvSpPr>
          <p:cNvPr id="6" name="Text 4"/>
          <p:cNvSpPr txBox="1"/>
          <p:nvPr/>
        </p:nvSpPr>
        <p:spPr>
          <a:xfrm>
            <a:off x="731520" y="1783080"/>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RQ1</a:t>
            </a:r>
            <a:endParaRPr lang="en-US" sz="1200" dirty="0"/>
          </a:p>
        </p:txBody>
      </p:sp>
      <p:sp>
        <p:nvSpPr>
          <p:cNvPr id="7" name="Text 5"/>
          <p:cNvSpPr txBox="1"/>
          <p:nvPr/>
        </p:nvSpPr>
        <p:spPr>
          <a:xfrm>
            <a:off x="1463040" y="1746504"/>
            <a:ext cx="4343400" cy="3657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Predictive accuracy</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txBox="1"/>
          <p:nvPr/>
        </p:nvSpPr>
        <p:spPr>
          <a:xfrm>
            <a:off x="731520" y="2286000"/>
            <a:ext cx="5074920" cy="777240"/>
          </a:xfrm>
          <a:prstGeom prst="rect">
            <a:avLst/>
          </a:prstGeom>
          <a:noFill/>
        </p:spPr>
        <p:txBody>
          <a:bodyPr wrap="square" rtlCol="0" anchor="t"/>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How accurately can the seven algorithms classify maternal risk?</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6400800" y="1600200"/>
            <a:ext cx="5440680" cy="1572768"/>
          </a:xfrm>
          <a:prstGeom prst="roundRect">
            <a:avLst>
              <a:gd name="adj" fmla="val 4651"/>
            </a:avLst>
          </a:prstGeom>
          <a:solidFill>
            <a:srgbClr val="FFFFFF"/>
          </a:solidFill>
          <a:ln w="12700">
            <a:solidFill>
              <a:srgbClr val="DCE7EA"/>
            </a:solidFill>
            <a:prstDash val="solid"/>
          </a:ln>
        </p:spPr>
      </p:sp>
      <p:sp>
        <p:nvSpPr>
          <p:cNvPr id="10" name="Shape 8"/>
          <p:cNvSpPr/>
          <p:nvPr/>
        </p:nvSpPr>
        <p:spPr>
          <a:xfrm>
            <a:off x="6583680" y="1783080"/>
            <a:ext cx="566928" cy="292608"/>
          </a:xfrm>
          <a:prstGeom prst="roundRect">
            <a:avLst>
              <a:gd name="adj" fmla="val 18750"/>
            </a:avLst>
          </a:prstGeom>
          <a:solidFill>
            <a:srgbClr val="E76F51"/>
          </a:solidFill>
        </p:spPr>
      </p:sp>
      <p:sp>
        <p:nvSpPr>
          <p:cNvPr id="11" name="Text 9"/>
          <p:cNvSpPr txBox="1"/>
          <p:nvPr/>
        </p:nvSpPr>
        <p:spPr>
          <a:xfrm>
            <a:off x="6583680" y="1783080"/>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RQ2</a:t>
            </a:r>
            <a:endParaRPr lang="en-US" sz="1200" dirty="0"/>
          </a:p>
        </p:txBody>
      </p:sp>
      <p:sp>
        <p:nvSpPr>
          <p:cNvPr id="12" name="Text 10"/>
          <p:cNvSpPr txBox="1"/>
          <p:nvPr/>
        </p:nvSpPr>
        <p:spPr>
          <a:xfrm>
            <a:off x="7315200" y="1746504"/>
            <a:ext cx="4343400" cy="3657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Model comparison</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nvSpPr>
        <p:spPr>
          <a:xfrm>
            <a:off x="6583680" y="2286000"/>
            <a:ext cx="5074920" cy="777240"/>
          </a:xfrm>
          <a:prstGeom prst="rect">
            <a:avLst/>
          </a:prstGeom>
          <a:noFill/>
        </p:spPr>
        <p:txBody>
          <a:bodyPr wrap="square" rtlCol="0" anchor="t"/>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Which model performs best and is it statistically significant?</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548640" y="3337560"/>
            <a:ext cx="5440680" cy="1572768"/>
          </a:xfrm>
          <a:prstGeom prst="roundRect">
            <a:avLst>
              <a:gd name="adj" fmla="val 4651"/>
            </a:avLst>
          </a:prstGeom>
          <a:solidFill>
            <a:srgbClr val="FFFFFF"/>
          </a:solidFill>
          <a:ln w="12700">
            <a:solidFill>
              <a:srgbClr val="DCE7EA"/>
            </a:solidFill>
            <a:prstDash val="solid"/>
          </a:ln>
        </p:spPr>
      </p:sp>
      <p:sp>
        <p:nvSpPr>
          <p:cNvPr id="15" name="Shape 13"/>
          <p:cNvSpPr/>
          <p:nvPr/>
        </p:nvSpPr>
        <p:spPr>
          <a:xfrm>
            <a:off x="731520" y="3520440"/>
            <a:ext cx="566928" cy="292608"/>
          </a:xfrm>
          <a:prstGeom prst="roundRect">
            <a:avLst>
              <a:gd name="adj" fmla="val 18750"/>
            </a:avLst>
          </a:prstGeom>
          <a:solidFill>
            <a:srgbClr val="E76F51"/>
          </a:solidFill>
        </p:spPr>
      </p:sp>
      <p:sp>
        <p:nvSpPr>
          <p:cNvPr id="16" name="Text 14"/>
          <p:cNvSpPr txBox="1"/>
          <p:nvPr/>
        </p:nvSpPr>
        <p:spPr>
          <a:xfrm>
            <a:off x="731520" y="3520440"/>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RQ3</a:t>
            </a:r>
            <a:endParaRPr lang="en-US" sz="1200" dirty="0"/>
          </a:p>
        </p:txBody>
      </p:sp>
      <p:sp>
        <p:nvSpPr>
          <p:cNvPr id="17" name="Text 15"/>
          <p:cNvSpPr txBox="1"/>
          <p:nvPr/>
        </p:nvSpPr>
        <p:spPr>
          <a:xfrm>
            <a:off x="1463040" y="3483864"/>
            <a:ext cx="4343400" cy="3657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Class imbalance</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txBox="1"/>
          <p:nvPr/>
        </p:nvSpPr>
        <p:spPr>
          <a:xfrm>
            <a:off x="731520" y="4023360"/>
            <a:ext cx="5074920" cy="777240"/>
          </a:xfrm>
          <a:prstGeom prst="rect">
            <a:avLst/>
          </a:prstGeom>
          <a:noFill/>
        </p:spPr>
        <p:txBody>
          <a:bodyPr wrap="square" rtlCol="0" anchor="t"/>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How does imbalance affect per-class recall vs. plain accuracy?</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6400800" y="3337560"/>
            <a:ext cx="5440680" cy="1572768"/>
          </a:xfrm>
          <a:prstGeom prst="roundRect">
            <a:avLst>
              <a:gd name="adj" fmla="val 4651"/>
            </a:avLst>
          </a:prstGeom>
          <a:solidFill>
            <a:srgbClr val="FFFFFF"/>
          </a:solidFill>
          <a:ln w="12700">
            <a:solidFill>
              <a:srgbClr val="DCE7EA"/>
            </a:solidFill>
            <a:prstDash val="solid"/>
          </a:ln>
        </p:spPr>
      </p:sp>
      <p:sp>
        <p:nvSpPr>
          <p:cNvPr id="20" name="Shape 18"/>
          <p:cNvSpPr/>
          <p:nvPr/>
        </p:nvSpPr>
        <p:spPr>
          <a:xfrm>
            <a:off x="6583680" y="3520440"/>
            <a:ext cx="566928" cy="292608"/>
          </a:xfrm>
          <a:prstGeom prst="roundRect">
            <a:avLst>
              <a:gd name="adj" fmla="val 18750"/>
            </a:avLst>
          </a:prstGeom>
          <a:solidFill>
            <a:srgbClr val="E76F51"/>
          </a:solidFill>
        </p:spPr>
      </p:sp>
      <p:sp>
        <p:nvSpPr>
          <p:cNvPr id="21" name="Text 19"/>
          <p:cNvSpPr txBox="1"/>
          <p:nvPr/>
        </p:nvSpPr>
        <p:spPr>
          <a:xfrm>
            <a:off x="6583680" y="3520440"/>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RQ4</a:t>
            </a:r>
            <a:endParaRPr lang="en-US" sz="1200" dirty="0"/>
          </a:p>
        </p:txBody>
      </p:sp>
      <p:sp>
        <p:nvSpPr>
          <p:cNvPr id="22" name="Text 20"/>
          <p:cNvSpPr txBox="1"/>
          <p:nvPr/>
        </p:nvSpPr>
        <p:spPr>
          <a:xfrm>
            <a:off x="7315200" y="3483864"/>
            <a:ext cx="4343400" cy="3657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Feature contribution</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txBox="1"/>
          <p:nvPr/>
        </p:nvSpPr>
        <p:spPr>
          <a:xfrm>
            <a:off x="6583680" y="4023360"/>
            <a:ext cx="5074920" cy="777240"/>
          </a:xfrm>
          <a:prstGeom prst="rect">
            <a:avLst/>
          </a:prstGeom>
          <a:noFill/>
        </p:spPr>
        <p:txBody>
          <a:bodyPr wrap="square" rtlCol="0" anchor="t"/>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Which features matter most, consistently across methods?</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548640" y="5074920"/>
            <a:ext cx="5440680" cy="1572768"/>
          </a:xfrm>
          <a:prstGeom prst="roundRect">
            <a:avLst>
              <a:gd name="adj" fmla="val 4651"/>
            </a:avLst>
          </a:prstGeom>
          <a:solidFill>
            <a:srgbClr val="FFFFFF"/>
          </a:solidFill>
          <a:ln w="12700">
            <a:solidFill>
              <a:srgbClr val="DCE7EA"/>
            </a:solidFill>
            <a:prstDash val="solid"/>
          </a:ln>
        </p:spPr>
      </p:sp>
      <p:sp>
        <p:nvSpPr>
          <p:cNvPr id="25" name="Shape 23"/>
          <p:cNvSpPr/>
          <p:nvPr/>
        </p:nvSpPr>
        <p:spPr>
          <a:xfrm>
            <a:off x="731520" y="5257800"/>
            <a:ext cx="566928" cy="292608"/>
          </a:xfrm>
          <a:prstGeom prst="roundRect">
            <a:avLst>
              <a:gd name="adj" fmla="val 18750"/>
            </a:avLst>
          </a:prstGeom>
          <a:solidFill>
            <a:srgbClr val="E76F51"/>
          </a:solidFill>
        </p:spPr>
      </p:sp>
      <p:sp>
        <p:nvSpPr>
          <p:cNvPr id="26" name="Text 24"/>
          <p:cNvSpPr txBox="1"/>
          <p:nvPr/>
        </p:nvSpPr>
        <p:spPr>
          <a:xfrm>
            <a:off x="731520" y="5257800"/>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RQ5</a:t>
            </a:r>
            <a:endParaRPr lang="en-US" sz="1200" dirty="0"/>
          </a:p>
        </p:txBody>
      </p:sp>
      <p:sp>
        <p:nvSpPr>
          <p:cNvPr id="27" name="Text 25"/>
          <p:cNvSpPr txBox="1"/>
          <p:nvPr/>
        </p:nvSpPr>
        <p:spPr>
          <a:xfrm>
            <a:off x="1463040" y="5221224"/>
            <a:ext cx="4343400" cy="3657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Generalization</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txBox="1"/>
          <p:nvPr/>
        </p:nvSpPr>
        <p:spPr>
          <a:xfrm>
            <a:off x="731520" y="5760720"/>
            <a:ext cx="5074920" cy="777240"/>
          </a:xfrm>
          <a:prstGeom prst="rect">
            <a:avLst/>
          </a:prstGeom>
          <a:noFill/>
        </p:spPr>
        <p:txBody>
          <a:bodyPr wrap="square" rtlCol="0" anchor="t"/>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Do learning curves show overfitting, underfitting, or a data ceiling?</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6400800" y="5074920"/>
            <a:ext cx="5440680" cy="1572768"/>
          </a:xfrm>
          <a:prstGeom prst="roundRect">
            <a:avLst>
              <a:gd name="adj" fmla="val 4651"/>
            </a:avLst>
          </a:prstGeom>
          <a:solidFill>
            <a:srgbClr val="FFFFFF"/>
          </a:solidFill>
          <a:ln w="12700">
            <a:solidFill>
              <a:srgbClr val="DCE7EA"/>
            </a:solidFill>
            <a:prstDash val="solid"/>
          </a:ln>
        </p:spPr>
      </p:sp>
      <p:sp>
        <p:nvSpPr>
          <p:cNvPr id="30" name="Shape 28"/>
          <p:cNvSpPr/>
          <p:nvPr/>
        </p:nvSpPr>
        <p:spPr>
          <a:xfrm>
            <a:off x="6583680" y="5257800"/>
            <a:ext cx="566928" cy="292608"/>
          </a:xfrm>
          <a:prstGeom prst="roundRect">
            <a:avLst>
              <a:gd name="adj" fmla="val 18750"/>
            </a:avLst>
          </a:prstGeom>
          <a:solidFill>
            <a:srgbClr val="E76F51"/>
          </a:solidFill>
        </p:spPr>
      </p:sp>
      <p:sp>
        <p:nvSpPr>
          <p:cNvPr id="31" name="Text 29"/>
          <p:cNvSpPr txBox="1"/>
          <p:nvPr/>
        </p:nvSpPr>
        <p:spPr>
          <a:xfrm>
            <a:off x="6583680" y="5257800"/>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RQ6</a:t>
            </a:r>
            <a:endParaRPr lang="en-US" sz="1200" dirty="0"/>
          </a:p>
        </p:txBody>
      </p:sp>
      <p:sp>
        <p:nvSpPr>
          <p:cNvPr id="32" name="Text 30"/>
          <p:cNvSpPr txBox="1"/>
          <p:nvPr/>
        </p:nvSpPr>
        <p:spPr>
          <a:xfrm>
            <a:off x="7315200" y="5221224"/>
            <a:ext cx="4343400" cy="3657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Responsible use</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31"/>
          <p:cNvSpPr txBox="1"/>
          <p:nvPr/>
        </p:nvSpPr>
        <p:spPr>
          <a:xfrm>
            <a:off x="6583680" y="5760720"/>
            <a:ext cx="5074920" cy="777240"/>
          </a:xfrm>
          <a:prstGeom prst="rect">
            <a:avLst/>
          </a:prstGeom>
          <a:noFill/>
        </p:spPr>
        <p:txBody>
          <a:bodyPr wrap="square" rtlCol="0" anchor="t"/>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What are the limitations and human-oversight requirements?</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35" name="Text 33"/>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02 · RELATED WORKS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Positioning Against Prior Research</a:t>
            </a:r>
            <a:endParaRPr lang="en-US" sz="3000" dirty="0"/>
          </a:p>
        </p:txBody>
      </p:sp>
      <p:sp>
        <p:nvSpPr>
          <p:cNvPr id="4" name="Shape 2"/>
          <p:cNvSpPr/>
          <p:nvPr/>
        </p:nvSpPr>
        <p:spPr>
          <a:xfrm>
            <a:off x="548640" y="1600200"/>
            <a:ext cx="5440680" cy="1874520"/>
          </a:xfrm>
          <a:prstGeom prst="roundRect">
            <a:avLst>
              <a:gd name="adj" fmla="val 3902"/>
            </a:avLst>
          </a:prstGeom>
          <a:solidFill>
            <a:srgbClr val="FFFFFF"/>
          </a:solidFill>
          <a:ln w="12700">
            <a:solidFill>
              <a:srgbClr val="DCE7EA"/>
            </a:solidFill>
            <a:prstDash val="solid"/>
          </a:ln>
        </p:spPr>
      </p:sp>
      <p:sp>
        <p:nvSpPr>
          <p:cNvPr id="5" name="Text 3"/>
          <p:cNvSpPr txBox="1"/>
          <p:nvPr/>
        </p:nvSpPr>
        <p:spPr>
          <a:xfrm>
            <a:off x="731520" y="1764792"/>
            <a:ext cx="731520" cy="365760"/>
          </a:xfrm>
          <a:prstGeom prst="rect">
            <a:avLst/>
          </a:prstGeom>
          <a:noFill/>
        </p:spPr>
        <p:txBody>
          <a:bodyPr wrap="square" rtlCol="0" anchor="ctr"/>
          <a:lstStyle/>
          <a:p>
            <a:pPr marL="0" indent="0">
              <a:buNone/>
            </a:pPr>
            <a:r>
              <a:rPr lang="en-US" sz="1800" b="1" dirty="0">
                <a:solidFill>
                  <a:srgbClr val="E76F51"/>
                </a:solidFill>
                <a:latin typeface="Cambria" panose="02040503050406030204" pitchFamily="34" charset="0"/>
                <a:ea typeface="Cambria" panose="02040503050406030204" pitchFamily="34" charset="-122"/>
                <a:cs typeface="Cambria" panose="02040503050406030204" pitchFamily="34" charset="-120"/>
              </a:rPr>
              <a:t>[1]</a:t>
            </a:r>
            <a:endParaRPr lang="en-US" sz="1800" dirty="0"/>
          </a:p>
        </p:txBody>
      </p:sp>
      <p:sp>
        <p:nvSpPr>
          <p:cNvPr id="6" name="Text 4"/>
          <p:cNvSpPr txBox="1"/>
          <p:nvPr/>
        </p:nvSpPr>
        <p:spPr>
          <a:xfrm>
            <a:off x="1371600" y="1783080"/>
            <a:ext cx="4434840" cy="365760"/>
          </a:xfrm>
          <a:prstGeom prst="rect">
            <a:avLst/>
          </a:prstGeom>
          <a:noFill/>
        </p:spPr>
        <p:txBody>
          <a:bodyPr wrap="square" rtlCol="0" anchor="ctr"/>
          <a:lstStyle/>
          <a:p>
            <a:pPr marL="0" indent="0">
              <a:buNone/>
            </a:pPr>
            <a:r>
              <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rPr>
              <a:t>Ahmed et al., 2020</a:t>
            </a:r>
            <a:endPar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nvSpPr>
        <p:spPr>
          <a:xfrm>
            <a:off x="731520" y="2258568"/>
            <a:ext cx="5074920" cy="1097280"/>
          </a:xfrm>
          <a:prstGeom prst="rect">
            <a:avLst/>
          </a:prstGeom>
          <a:noFill/>
        </p:spPr>
        <p:txBody>
          <a:bodyPr wrap="square" rtlCol="0" anchor="t"/>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Reviewed IoT-based maternal risk factors, establishing the risk taxonomy used in this dataset.</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400800" y="1600200"/>
            <a:ext cx="5440680" cy="1874520"/>
          </a:xfrm>
          <a:prstGeom prst="roundRect">
            <a:avLst>
              <a:gd name="adj" fmla="val 3902"/>
            </a:avLst>
          </a:prstGeom>
          <a:solidFill>
            <a:srgbClr val="FFFFFF"/>
          </a:solidFill>
          <a:ln w="12700">
            <a:solidFill>
              <a:srgbClr val="DCE7EA"/>
            </a:solidFill>
            <a:prstDash val="solid"/>
          </a:ln>
        </p:spPr>
      </p:sp>
      <p:sp>
        <p:nvSpPr>
          <p:cNvPr id="9" name="Text 7"/>
          <p:cNvSpPr txBox="1"/>
          <p:nvPr/>
        </p:nvSpPr>
        <p:spPr>
          <a:xfrm>
            <a:off x="6583680" y="1764792"/>
            <a:ext cx="731520" cy="365760"/>
          </a:xfrm>
          <a:prstGeom prst="rect">
            <a:avLst/>
          </a:prstGeom>
          <a:noFill/>
        </p:spPr>
        <p:txBody>
          <a:bodyPr wrap="square" rtlCol="0" anchor="ctr"/>
          <a:lstStyle/>
          <a:p>
            <a:pPr marL="0" indent="0">
              <a:buNone/>
            </a:pPr>
            <a:r>
              <a:rPr lang="en-US" sz="1800" b="1" dirty="0">
                <a:solidFill>
                  <a:srgbClr val="E76F51"/>
                </a:solidFill>
                <a:latin typeface="Cambria" panose="02040503050406030204" pitchFamily="34" charset="0"/>
                <a:ea typeface="Cambria" panose="02040503050406030204" pitchFamily="34" charset="-122"/>
                <a:cs typeface="Cambria" panose="02040503050406030204" pitchFamily="34" charset="-120"/>
              </a:rPr>
              <a:t>[2]</a:t>
            </a:r>
            <a:endParaRPr lang="en-US" sz="1800" dirty="0"/>
          </a:p>
        </p:txBody>
      </p:sp>
      <p:sp>
        <p:nvSpPr>
          <p:cNvPr id="10" name="Text 8"/>
          <p:cNvSpPr txBox="1"/>
          <p:nvPr/>
        </p:nvSpPr>
        <p:spPr>
          <a:xfrm>
            <a:off x="7223760" y="1783080"/>
            <a:ext cx="4434840" cy="365760"/>
          </a:xfrm>
          <a:prstGeom prst="rect">
            <a:avLst/>
          </a:prstGeom>
          <a:noFill/>
        </p:spPr>
        <p:txBody>
          <a:bodyPr wrap="square" rtlCol="0" anchor="ctr"/>
          <a:lstStyle/>
          <a:p>
            <a:pPr marL="0" indent="0">
              <a:buNone/>
            </a:pPr>
            <a:r>
              <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rPr>
              <a:t>Ahmed &amp; Kashem, 2020</a:t>
            </a:r>
            <a:endPar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txBox="1"/>
          <p:nvPr/>
        </p:nvSpPr>
        <p:spPr>
          <a:xfrm>
            <a:off x="6583680" y="2258568"/>
            <a:ext cx="5074920" cy="1097280"/>
          </a:xfrm>
          <a:prstGeom prst="rect">
            <a:avLst/>
          </a:prstGeom>
          <a:noFill/>
        </p:spPr>
        <p:txBody>
          <a:bodyPr wrap="square" rtlCol="0" anchor="t"/>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Original dataset source (n=1,014; Dhaka, Bangladesh) — matched exactly by this project's integrity check.</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48640" y="3639312"/>
            <a:ext cx="5440680" cy="1874520"/>
          </a:xfrm>
          <a:prstGeom prst="roundRect">
            <a:avLst>
              <a:gd name="adj" fmla="val 3902"/>
            </a:avLst>
          </a:prstGeom>
          <a:solidFill>
            <a:srgbClr val="FFFFFF"/>
          </a:solidFill>
          <a:ln w="12700">
            <a:solidFill>
              <a:srgbClr val="DCE7EA"/>
            </a:solidFill>
            <a:prstDash val="solid"/>
          </a:ln>
        </p:spPr>
      </p:sp>
      <p:sp>
        <p:nvSpPr>
          <p:cNvPr id="13" name="Text 11"/>
          <p:cNvSpPr txBox="1"/>
          <p:nvPr/>
        </p:nvSpPr>
        <p:spPr>
          <a:xfrm>
            <a:off x="731520" y="3803904"/>
            <a:ext cx="731520" cy="365760"/>
          </a:xfrm>
          <a:prstGeom prst="rect">
            <a:avLst/>
          </a:prstGeom>
          <a:noFill/>
        </p:spPr>
        <p:txBody>
          <a:bodyPr wrap="square" rtlCol="0" anchor="ctr"/>
          <a:lstStyle/>
          <a:p>
            <a:pPr marL="0" indent="0">
              <a:buNone/>
            </a:pPr>
            <a:r>
              <a:rPr lang="en-US" sz="1800" b="1" dirty="0">
                <a:solidFill>
                  <a:srgbClr val="E76F51"/>
                </a:solidFill>
                <a:latin typeface="Cambria" panose="02040503050406030204" pitchFamily="34" charset="0"/>
                <a:ea typeface="Cambria" panose="02040503050406030204" pitchFamily="34" charset="-122"/>
                <a:cs typeface="Cambria" panose="02040503050406030204" pitchFamily="34" charset="-120"/>
              </a:rPr>
              <a:t>[3]</a:t>
            </a:r>
            <a:endParaRPr lang="en-US" sz="1800" dirty="0"/>
          </a:p>
        </p:txBody>
      </p:sp>
      <p:sp>
        <p:nvSpPr>
          <p:cNvPr id="14" name="Text 12"/>
          <p:cNvSpPr txBox="1"/>
          <p:nvPr/>
        </p:nvSpPr>
        <p:spPr>
          <a:xfrm>
            <a:off x="1371600" y="3822192"/>
            <a:ext cx="4434840" cy="365760"/>
          </a:xfrm>
          <a:prstGeom prst="rect">
            <a:avLst/>
          </a:prstGeom>
          <a:noFill/>
        </p:spPr>
        <p:txBody>
          <a:bodyPr wrap="square" rtlCol="0" anchor="ctr"/>
          <a:lstStyle/>
          <a:p>
            <a:pPr marL="0" indent="0">
              <a:buNone/>
            </a:pPr>
            <a:r>
              <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rPr>
              <a:t>Togunwa et al., 2023</a:t>
            </a:r>
            <a:endPar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txBox="1"/>
          <p:nvPr/>
        </p:nvSpPr>
        <p:spPr>
          <a:xfrm>
            <a:off x="731520" y="4297680"/>
            <a:ext cx="5074920" cy="1097280"/>
          </a:xfrm>
          <a:prstGeom prst="rect">
            <a:avLst/>
          </a:prstGeom>
          <a:noFill/>
        </p:spPr>
        <p:txBody>
          <a:bodyPr wrap="square" rtlCol="0" anchor="t"/>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Hybrid ANN + Random Forest model — confirms ensemble trees outperform linear/neural approaches.</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6400800" y="3639312"/>
            <a:ext cx="5440680" cy="1874520"/>
          </a:xfrm>
          <a:prstGeom prst="roundRect">
            <a:avLst>
              <a:gd name="adj" fmla="val 3902"/>
            </a:avLst>
          </a:prstGeom>
          <a:solidFill>
            <a:srgbClr val="FFFFFF"/>
          </a:solidFill>
          <a:ln w="12700">
            <a:solidFill>
              <a:srgbClr val="DCE7EA"/>
            </a:solidFill>
            <a:prstDash val="solid"/>
          </a:ln>
        </p:spPr>
      </p:sp>
      <p:sp>
        <p:nvSpPr>
          <p:cNvPr id="17" name="Text 15"/>
          <p:cNvSpPr txBox="1"/>
          <p:nvPr/>
        </p:nvSpPr>
        <p:spPr>
          <a:xfrm>
            <a:off x="6583680" y="3803904"/>
            <a:ext cx="731520" cy="365760"/>
          </a:xfrm>
          <a:prstGeom prst="rect">
            <a:avLst/>
          </a:prstGeom>
          <a:noFill/>
        </p:spPr>
        <p:txBody>
          <a:bodyPr wrap="square" rtlCol="0" anchor="ctr"/>
          <a:lstStyle/>
          <a:p>
            <a:pPr marL="0" indent="0">
              <a:buNone/>
            </a:pPr>
            <a:r>
              <a:rPr lang="en-US" sz="1800" b="1" dirty="0">
                <a:solidFill>
                  <a:srgbClr val="E76F51"/>
                </a:solidFill>
                <a:latin typeface="Cambria" panose="02040503050406030204" pitchFamily="34" charset="0"/>
                <a:ea typeface="Cambria" panose="02040503050406030204" pitchFamily="34" charset="-122"/>
                <a:cs typeface="Cambria" panose="02040503050406030204" pitchFamily="34" charset="-120"/>
              </a:rPr>
              <a:t>[4]</a:t>
            </a:r>
            <a:endParaRPr lang="en-US" sz="1800" dirty="0"/>
          </a:p>
        </p:txBody>
      </p:sp>
      <p:sp>
        <p:nvSpPr>
          <p:cNvPr id="18" name="Text 16"/>
          <p:cNvSpPr txBox="1"/>
          <p:nvPr/>
        </p:nvSpPr>
        <p:spPr>
          <a:xfrm>
            <a:off x="7223760" y="3822192"/>
            <a:ext cx="4434840" cy="365760"/>
          </a:xfrm>
          <a:prstGeom prst="rect">
            <a:avLst/>
          </a:prstGeom>
          <a:noFill/>
        </p:spPr>
        <p:txBody>
          <a:bodyPr wrap="square" rtlCol="0" anchor="ctr"/>
          <a:lstStyle/>
          <a:p>
            <a:pPr marL="0" indent="0">
              <a:buNone/>
            </a:pPr>
            <a:r>
              <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rPr>
              <a:t>Assaduzzaman et al., 2023</a:t>
            </a:r>
            <a:endParaRPr lang="en-US" sz="14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nvSpPr>
        <p:spPr>
          <a:xfrm>
            <a:off x="6583680" y="4297680"/>
            <a:ext cx="5074920" cy="1097280"/>
          </a:xfrm>
          <a:prstGeom prst="rect">
            <a:avLst/>
          </a:prstGeom>
          <a:noFill/>
        </p:spPr>
        <p:txBody>
          <a:bodyPr wrap="square" rtlCol="0" anchor="t"/>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Traditional ML comparison — reinforces tree-based methods as the strongest accuracy/interpretability balance.</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txBox="1"/>
          <p:nvPr/>
        </p:nvSpPr>
        <p:spPr>
          <a:xfrm>
            <a:off x="548640" y="5532120"/>
            <a:ext cx="11064240" cy="822960"/>
          </a:xfrm>
          <a:prstGeom prst="rect">
            <a:avLst/>
          </a:prstGeom>
          <a:noFill/>
        </p:spPr>
        <p:txBody>
          <a:bodyPr wrap="square" rtlCol="0" anchor="ctr"/>
          <a:lstStyle/>
          <a:p>
            <a:pPr marL="0" indent="0">
              <a:buNone/>
            </a:pPr>
            <a:r>
              <a:rPr lang="en-US" sz="1400" i="1" dirty="0">
                <a:solidFill>
                  <a:srgbClr val="5B6B73"/>
                </a:solidFill>
                <a:latin typeface="Calibri" panose="020F0502020204030204" pitchFamily="34" charset="0"/>
                <a:ea typeface="Calibri" panose="020F0502020204030204" pitchFamily="34" charset="-122"/>
                <a:cs typeface="Calibri" panose="020F0502020204030204" pitchFamily="34" charset="-120"/>
              </a:rPr>
              <a:t>Gap this project addresses: none of the above separate CV-based model selection from test evaluation, apply a formal significance test, or cross-check two independent importance methods.</a:t>
            </a:r>
            <a:endParaRPr lang="en-US" sz="1400" i="1"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22" name="Text 20"/>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03 · DATA</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Dataset Overview</a:t>
            </a:r>
            <a:endParaRPr lang="en-US" sz="3000" dirty="0"/>
          </a:p>
        </p:txBody>
      </p:sp>
      <p:sp>
        <p:nvSpPr>
          <p:cNvPr id="4" name="Shape 2"/>
          <p:cNvSpPr/>
          <p:nvPr/>
        </p:nvSpPr>
        <p:spPr>
          <a:xfrm>
            <a:off x="548640" y="1737360"/>
            <a:ext cx="2606040" cy="1737360"/>
          </a:xfrm>
          <a:prstGeom prst="roundRect">
            <a:avLst>
              <a:gd name="adj" fmla="val 4211"/>
            </a:avLst>
          </a:prstGeom>
          <a:solidFill>
            <a:srgbClr val="FFFFFF"/>
          </a:solidFill>
          <a:ln w="12700">
            <a:solidFill>
              <a:srgbClr val="DCE7EA"/>
            </a:solidFill>
            <a:prstDash val="solid"/>
          </a:ln>
        </p:spPr>
      </p:sp>
      <p:sp>
        <p:nvSpPr>
          <p:cNvPr id="5" name="Text 3"/>
          <p:cNvSpPr txBox="1"/>
          <p:nvPr/>
        </p:nvSpPr>
        <p:spPr>
          <a:xfrm>
            <a:off x="548640" y="1847088"/>
            <a:ext cx="2606040" cy="1234440"/>
          </a:xfrm>
          <a:prstGeom prst="rect">
            <a:avLst/>
          </a:prstGeom>
          <a:noFill/>
        </p:spPr>
        <p:txBody>
          <a:bodyPr wrap="square" rtlCol="0" anchor="ctr"/>
          <a:lstStyle/>
          <a:p>
            <a:pPr marL="0" indent="0" algn="ctr">
              <a:buNone/>
            </a:pPr>
            <a:r>
              <a:rPr lang="en-US" sz="3000" b="1" dirty="0">
                <a:solidFill>
                  <a:srgbClr val="E76F51"/>
                </a:solidFill>
                <a:latin typeface="Cambria" panose="02040503050406030204" pitchFamily="34" charset="0"/>
                <a:ea typeface="Cambria" panose="02040503050406030204" pitchFamily="34" charset="-122"/>
                <a:cs typeface="Cambria" panose="02040503050406030204" pitchFamily="34" charset="-120"/>
              </a:rPr>
              <a:t>1,014</a:t>
            </a:r>
            <a:endParaRPr lang="en-US" sz="3000" dirty="0"/>
          </a:p>
        </p:txBody>
      </p:sp>
      <p:sp>
        <p:nvSpPr>
          <p:cNvPr id="6" name="Text 4"/>
          <p:cNvSpPr txBox="1"/>
          <p:nvPr/>
        </p:nvSpPr>
        <p:spPr>
          <a:xfrm>
            <a:off x="640080" y="2928620"/>
            <a:ext cx="242316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Total records</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3383280" y="1737360"/>
            <a:ext cx="2606040" cy="1737360"/>
          </a:xfrm>
          <a:prstGeom prst="roundRect">
            <a:avLst>
              <a:gd name="adj" fmla="val 4211"/>
            </a:avLst>
          </a:prstGeom>
          <a:solidFill>
            <a:srgbClr val="FFFFFF"/>
          </a:solidFill>
          <a:ln w="12700">
            <a:solidFill>
              <a:srgbClr val="DCE7EA"/>
            </a:solidFill>
            <a:prstDash val="solid"/>
          </a:ln>
        </p:spPr>
      </p:sp>
      <p:sp>
        <p:nvSpPr>
          <p:cNvPr id="8" name="Text 6"/>
          <p:cNvSpPr txBox="1"/>
          <p:nvPr/>
        </p:nvSpPr>
        <p:spPr>
          <a:xfrm>
            <a:off x="3383280" y="1847088"/>
            <a:ext cx="2606040" cy="123444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7</a:t>
            </a:r>
            <a:endParaRPr lang="en-US" sz="3000" dirty="0"/>
          </a:p>
        </p:txBody>
      </p:sp>
      <p:sp>
        <p:nvSpPr>
          <p:cNvPr id="9" name="Text 7"/>
          <p:cNvSpPr txBox="1"/>
          <p:nvPr/>
        </p:nvSpPr>
        <p:spPr>
          <a:xfrm>
            <a:off x="3474720" y="2928620"/>
            <a:ext cx="242316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Raw columns</a:t>
            </a:r>
            <a:endParaRPr lang="en-US" sz="1600" dirty="0"/>
          </a:p>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(6 features + target)</a:t>
            </a:r>
            <a:endParaRPr lang="en-US" sz="1600" dirty="0"/>
          </a:p>
        </p:txBody>
      </p:sp>
      <p:sp>
        <p:nvSpPr>
          <p:cNvPr id="10" name="Shape 8"/>
          <p:cNvSpPr/>
          <p:nvPr/>
        </p:nvSpPr>
        <p:spPr>
          <a:xfrm>
            <a:off x="6217920" y="1737360"/>
            <a:ext cx="2606040" cy="1737360"/>
          </a:xfrm>
          <a:prstGeom prst="roundRect">
            <a:avLst>
              <a:gd name="adj" fmla="val 4211"/>
            </a:avLst>
          </a:prstGeom>
          <a:solidFill>
            <a:srgbClr val="FFFFFF"/>
          </a:solidFill>
          <a:ln w="12700">
            <a:solidFill>
              <a:srgbClr val="DCE7EA"/>
            </a:solidFill>
            <a:prstDash val="solid"/>
          </a:ln>
        </p:spPr>
      </p:sp>
      <p:sp>
        <p:nvSpPr>
          <p:cNvPr id="11" name="Text 9"/>
          <p:cNvSpPr txBox="1"/>
          <p:nvPr/>
        </p:nvSpPr>
        <p:spPr>
          <a:xfrm>
            <a:off x="6217920" y="1847088"/>
            <a:ext cx="2606040" cy="123444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3</a:t>
            </a:r>
            <a:endParaRPr lang="en-US" sz="3000" dirty="0"/>
          </a:p>
        </p:txBody>
      </p:sp>
      <p:sp>
        <p:nvSpPr>
          <p:cNvPr id="12" name="Text 10"/>
          <p:cNvSpPr txBox="1"/>
          <p:nvPr/>
        </p:nvSpPr>
        <p:spPr>
          <a:xfrm>
            <a:off x="6309360" y="2928620"/>
            <a:ext cx="242316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Risk classes</a:t>
            </a:r>
            <a:endParaRPr lang="en-US" sz="1600" dirty="0"/>
          </a:p>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low / mid / high</a:t>
            </a:r>
            <a:endParaRPr lang="en-US" sz="1600" dirty="0"/>
          </a:p>
        </p:txBody>
      </p:sp>
      <p:sp>
        <p:nvSpPr>
          <p:cNvPr id="13" name="Shape 11"/>
          <p:cNvSpPr/>
          <p:nvPr/>
        </p:nvSpPr>
        <p:spPr>
          <a:xfrm>
            <a:off x="9052560" y="1737360"/>
            <a:ext cx="2606040" cy="1737360"/>
          </a:xfrm>
          <a:prstGeom prst="roundRect">
            <a:avLst>
              <a:gd name="adj" fmla="val 4211"/>
            </a:avLst>
          </a:prstGeom>
          <a:solidFill>
            <a:srgbClr val="FFFFFF"/>
          </a:solidFill>
          <a:ln w="12700">
            <a:solidFill>
              <a:srgbClr val="DCE7EA"/>
            </a:solidFill>
            <a:prstDash val="solid"/>
          </a:ln>
        </p:spPr>
      </p:sp>
      <p:sp>
        <p:nvSpPr>
          <p:cNvPr id="14" name="Text 12"/>
          <p:cNvSpPr txBox="1"/>
          <p:nvPr/>
        </p:nvSpPr>
        <p:spPr>
          <a:xfrm>
            <a:off x="9052560" y="1847088"/>
            <a:ext cx="2606040" cy="123444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0</a:t>
            </a:r>
            <a:endParaRPr lang="en-US" sz="3000" dirty="0"/>
          </a:p>
        </p:txBody>
      </p:sp>
      <p:sp>
        <p:nvSpPr>
          <p:cNvPr id="15" name="Text 13"/>
          <p:cNvSpPr txBox="1"/>
          <p:nvPr/>
        </p:nvSpPr>
        <p:spPr>
          <a:xfrm>
            <a:off x="9144000" y="2928620"/>
            <a:ext cx="2423160" cy="384048"/>
          </a:xfrm>
          <a:prstGeom prst="rect">
            <a:avLst/>
          </a:prstGeom>
          <a:noFill/>
        </p:spPr>
        <p:txBody>
          <a:bodyPr wrap="square" rtlCol="0" anchor="t"/>
          <a:lstStyle/>
          <a:p>
            <a:pPr marL="0" indent="0" algn="ct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Missing values</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548640" y="3749040"/>
            <a:ext cx="11064240" cy="45720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Source: IoT-based maternal risk monitoring, Dhaka, Bangladesh (Ahmed &amp; Kashem, 2020)  via UCI Machine Learning Repository / Kaggle.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txBox="1"/>
          <p:nvPr/>
        </p:nvSpPr>
        <p:spPr>
          <a:xfrm>
            <a:off x="548640" y="4343400"/>
            <a:ext cx="11064240" cy="2103120"/>
          </a:xfrm>
          <a:prstGeom prst="rect">
            <a:avLst/>
          </a:prstGeom>
          <a:noFill/>
        </p:spPr>
        <p:txBody>
          <a:bodyPr wrap="square" rtlCol="0" anchor="t"/>
          <a:lstStyle/>
          <a:p>
            <a:pPr marL="228600" indent="-228600">
              <a:spcAft>
                <a:spcPts val="10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Six raw vital signs: Age, SystolicBP, DiastolicBP, BS (blood glucose), BodyTemp, HeartRate.</a:t>
            </a:r>
            <a:endParaRPr lang="en-US" sz="1600" dirty="0"/>
          </a:p>
          <a:p>
            <a:pPr marL="228600" indent="-228600">
              <a:spcAft>
                <a:spcPts val="10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Dataset integrity was explicitly verified before analysis (row count and all 3 classes present)  the pipeline halts rather than silently continuing if a mismatch is detected.</a:t>
            </a:r>
            <a:endParaRPr lang="en-US" sz="1600" dirty="0"/>
          </a:p>
          <a:p>
            <a:pPr marL="228600" indent="-228600">
              <a:spcAft>
                <a:spcPts val="10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This safeguard mattered in practice: an earlier data source mistakenly resolved to a different, binary-only (808-row) file and was caught by this exact check.</a:t>
            </a:r>
            <a:endParaRPr lang="en-US" sz="1600" dirty="0"/>
          </a:p>
        </p:txBody>
      </p:sp>
      <p:sp>
        <p:nvSpPr>
          <p:cNvPr id="18" name="Text 16"/>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9" name="Text 17"/>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03 · DATA</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Class Distribution &amp; Data Quality</a:t>
            </a:r>
            <a:endParaRPr lang="en-US" sz="3000" dirty="0"/>
          </a:p>
        </p:txBody>
      </p:sp>
      <p:pic>
        <p:nvPicPr>
          <p:cNvPr id="4" name="Image 0" descr="/home/claude/ppt/docx_extracted/word/media/image3.png"/>
          <p:cNvPicPr>
            <a:picLocks noChangeAspect="1"/>
          </p:cNvPicPr>
          <p:nvPr/>
        </p:nvPicPr>
        <p:blipFill>
          <a:blip r:embed="rId1"/>
          <a:stretch>
            <a:fillRect/>
          </a:stretch>
        </p:blipFill>
        <p:spPr>
          <a:xfrm>
            <a:off x="548640" y="1750659"/>
            <a:ext cx="6035040" cy="4271083"/>
          </a:xfrm>
          <a:prstGeom prst="rect">
            <a:avLst/>
          </a:prstGeom>
        </p:spPr>
      </p:pic>
      <p:sp>
        <p:nvSpPr>
          <p:cNvPr id="5" name="Shape 2"/>
          <p:cNvSpPr/>
          <p:nvPr/>
        </p:nvSpPr>
        <p:spPr>
          <a:xfrm>
            <a:off x="6858000" y="1645920"/>
            <a:ext cx="4800600" cy="4480560"/>
          </a:xfrm>
          <a:prstGeom prst="roundRect">
            <a:avLst>
              <a:gd name="adj" fmla="val 1633"/>
            </a:avLst>
          </a:prstGeom>
          <a:solidFill>
            <a:srgbClr val="FFFFFF"/>
          </a:solidFill>
          <a:ln w="12700">
            <a:solidFill>
              <a:srgbClr val="DCE7EA"/>
            </a:solidFill>
            <a:prstDash val="solid"/>
          </a:ln>
        </p:spPr>
      </p:sp>
      <p:sp>
        <p:nvSpPr>
          <p:cNvPr id="6" name="Text 3"/>
          <p:cNvSpPr txBox="1"/>
          <p:nvPr/>
        </p:nvSpPr>
        <p:spPr>
          <a:xfrm>
            <a:off x="7132320" y="1874520"/>
            <a:ext cx="4297680" cy="4114800"/>
          </a:xfrm>
          <a:prstGeom prst="rect">
            <a:avLst/>
          </a:prstGeom>
          <a:noFill/>
        </p:spPr>
        <p:txBody>
          <a:bodyPr wrap="square" rtlCol="0" anchor="t"/>
          <a:lstStyle/>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Low risk: 406 records (40.0%)</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Mid risk: 336 records (33.1%)</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High risk: 272 records (26.8%)</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Moderate class imbalance  macro-averaged metrics prioritized throughout.</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562 of 1,014 rows (55.4%) are exact duplicates; retained deliberately since no patient identifier exists to confirm they are erroneous.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8" name="Text 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03 · DATA</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Feature Engineering</a:t>
            </a:r>
            <a:endParaRPr lang="en-US" sz="3000" dirty="0"/>
          </a:p>
        </p:txBody>
      </p:sp>
      <p:sp>
        <p:nvSpPr>
          <p:cNvPr id="4" name="Shape 2"/>
          <p:cNvSpPr/>
          <p:nvPr/>
        </p:nvSpPr>
        <p:spPr>
          <a:xfrm>
            <a:off x="548640" y="1691640"/>
            <a:ext cx="11064240" cy="822960"/>
          </a:xfrm>
          <a:prstGeom prst="roundRect">
            <a:avLst>
              <a:gd name="adj" fmla="val 7778"/>
            </a:avLst>
          </a:prstGeom>
          <a:solidFill>
            <a:srgbClr val="FFFFFF"/>
          </a:solidFill>
          <a:ln w="12700">
            <a:solidFill>
              <a:srgbClr val="DCE7EA"/>
            </a:solidFill>
            <a:prstDash val="solid"/>
          </a:ln>
        </p:spPr>
      </p:sp>
      <p:sp>
        <p:nvSpPr>
          <p:cNvPr id="5" name="Text 3"/>
          <p:cNvSpPr txBox="1"/>
          <p:nvPr/>
        </p:nvSpPr>
        <p:spPr>
          <a:xfrm>
            <a:off x="777240" y="1691640"/>
            <a:ext cx="2926080" cy="8229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Pulse Pressure</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txBox="1"/>
          <p:nvPr/>
        </p:nvSpPr>
        <p:spPr>
          <a:xfrm>
            <a:off x="3794760" y="1691640"/>
            <a:ext cx="3931920" cy="822960"/>
          </a:xfrm>
          <a:prstGeom prst="rect">
            <a:avLst/>
          </a:prstGeom>
          <a:noFill/>
        </p:spPr>
        <p:txBody>
          <a:bodyPr wrap="square" rtlCol="0" anchor="ctr"/>
          <a:lstStyle/>
          <a:p>
            <a:pPr marL="0" indent="0">
              <a:buNone/>
            </a:pPr>
            <a:r>
              <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rPr>
              <a:t>SystolicBP - DiastolicBP</a:t>
            </a:r>
            <a:endPar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7" name="Text 5"/>
          <p:cNvSpPr txBox="1"/>
          <p:nvPr/>
        </p:nvSpPr>
        <p:spPr>
          <a:xfrm>
            <a:off x="7818120" y="1691640"/>
            <a:ext cx="3657600" cy="82296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Recognized cardiovascular risk indicator</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548640" y="2651760"/>
            <a:ext cx="11064240" cy="822960"/>
          </a:xfrm>
          <a:prstGeom prst="roundRect">
            <a:avLst>
              <a:gd name="adj" fmla="val 7778"/>
            </a:avLst>
          </a:prstGeom>
          <a:solidFill>
            <a:srgbClr val="FFFFFF"/>
          </a:solidFill>
          <a:ln w="12700">
            <a:solidFill>
              <a:srgbClr val="DCE7EA"/>
            </a:solidFill>
            <a:prstDash val="solid"/>
          </a:ln>
        </p:spPr>
      </p:sp>
      <p:sp>
        <p:nvSpPr>
          <p:cNvPr id="9" name="Text 7"/>
          <p:cNvSpPr txBox="1"/>
          <p:nvPr/>
        </p:nvSpPr>
        <p:spPr>
          <a:xfrm>
            <a:off x="777240" y="2651760"/>
            <a:ext cx="2926080" cy="8229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Mean Arterial Pressure</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nvSpPr>
        <p:spPr>
          <a:xfrm>
            <a:off x="3794760" y="2651760"/>
            <a:ext cx="3931920" cy="822960"/>
          </a:xfrm>
          <a:prstGeom prst="rect">
            <a:avLst/>
          </a:prstGeom>
          <a:noFill/>
        </p:spPr>
        <p:txBody>
          <a:bodyPr wrap="square" rtlCol="0" anchor="ctr"/>
          <a:lstStyle/>
          <a:p>
            <a:pPr marL="0" indent="0">
              <a:buNone/>
            </a:pPr>
            <a:r>
              <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rPr>
              <a:t>DiastolicBP + (Pulse Pressure / 3)</a:t>
            </a:r>
            <a:endPar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1" name="Text 9"/>
          <p:cNvSpPr txBox="1"/>
          <p:nvPr/>
        </p:nvSpPr>
        <p:spPr>
          <a:xfrm>
            <a:off x="7818120" y="2651760"/>
            <a:ext cx="3657600" cy="82296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Standard clinical composite BP measure</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48640" y="3611880"/>
            <a:ext cx="11064240" cy="822960"/>
          </a:xfrm>
          <a:prstGeom prst="roundRect">
            <a:avLst>
              <a:gd name="adj" fmla="val 7778"/>
            </a:avLst>
          </a:prstGeom>
          <a:solidFill>
            <a:srgbClr val="FFFFFF"/>
          </a:solidFill>
          <a:ln w="12700">
            <a:solidFill>
              <a:srgbClr val="DCE7EA"/>
            </a:solidFill>
            <a:prstDash val="solid"/>
          </a:ln>
        </p:spPr>
      </p:sp>
      <p:sp>
        <p:nvSpPr>
          <p:cNvPr id="13" name="Text 11"/>
          <p:cNvSpPr txBox="1"/>
          <p:nvPr/>
        </p:nvSpPr>
        <p:spPr>
          <a:xfrm>
            <a:off x="777240" y="3611880"/>
            <a:ext cx="2926080" cy="8229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Systolic/Diastolic Ratio</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txBox="1"/>
          <p:nvPr/>
        </p:nvSpPr>
        <p:spPr>
          <a:xfrm>
            <a:off x="3794760" y="3611880"/>
            <a:ext cx="3931920" cy="822960"/>
          </a:xfrm>
          <a:prstGeom prst="rect">
            <a:avLst/>
          </a:prstGeom>
          <a:noFill/>
        </p:spPr>
        <p:txBody>
          <a:bodyPr wrap="square" rtlCol="0" anchor="ctr"/>
          <a:lstStyle/>
          <a:p>
            <a:pPr marL="0" indent="0">
              <a:buNone/>
            </a:pPr>
            <a:r>
              <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rPr>
              <a:t>SystolicBP / DiastolicBP</a:t>
            </a:r>
            <a:endPar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5" name="Text 13"/>
          <p:cNvSpPr txBox="1"/>
          <p:nvPr/>
        </p:nvSpPr>
        <p:spPr>
          <a:xfrm>
            <a:off x="7818120" y="3611880"/>
            <a:ext cx="3657600" cy="82296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Additional blood-pressure relationship signal</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48640" y="4572000"/>
            <a:ext cx="11064240" cy="822960"/>
          </a:xfrm>
          <a:prstGeom prst="roundRect">
            <a:avLst>
              <a:gd name="adj" fmla="val 7778"/>
            </a:avLst>
          </a:prstGeom>
          <a:solidFill>
            <a:srgbClr val="FFFFFF"/>
          </a:solidFill>
          <a:ln w="12700">
            <a:solidFill>
              <a:srgbClr val="DCE7EA"/>
            </a:solidFill>
            <a:prstDash val="solid"/>
          </a:ln>
        </p:spPr>
      </p:sp>
      <p:sp>
        <p:nvSpPr>
          <p:cNvPr id="17" name="Text 15"/>
          <p:cNvSpPr txBox="1"/>
          <p:nvPr/>
        </p:nvSpPr>
        <p:spPr>
          <a:xfrm>
            <a:off x="777240" y="4572000"/>
            <a:ext cx="2926080" cy="82296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Age Group (one-hot)</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txBox="1"/>
          <p:nvPr/>
        </p:nvSpPr>
        <p:spPr>
          <a:xfrm>
            <a:off x="3794760" y="4572000"/>
            <a:ext cx="3931920" cy="822960"/>
          </a:xfrm>
          <a:prstGeom prst="rect">
            <a:avLst/>
          </a:prstGeom>
          <a:noFill/>
        </p:spPr>
        <p:txBody>
          <a:bodyPr wrap="square" rtlCol="0" anchor="ctr"/>
          <a:lstStyle/>
          <a:p>
            <a:pPr marL="0" indent="0">
              <a:buNone/>
            </a:pPr>
            <a:r>
              <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rPr>
              <a:t>adolescent / adult / advanced maternal age</a:t>
            </a:r>
            <a:endParaRPr lang="en-US" sz="1400" dirty="0">
              <a:solidFill>
                <a:srgbClr val="E76F51"/>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9" name="Text 17"/>
          <p:cNvSpPr txBox="1"/>
          <p:nvPr/>
        </p:nvSpPr>
        <p:spPr>
          <a:xfrm>
            <a:off x="7818120" y="4572000"/>
            <a:ext cx="3657600" cy="82296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Recognized maternal age risk categories</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txBox="1"/>
          <p:nvPr/>
        </p:nvSpPr>
        <p:spPr>
          <a:xfrm>
            <a:off x="548640" y="5623560"/>
            <a:ext cx="11064240" cy="640080"/>
          </a:xfrm>
          <a:prstGeom prst="rect">
            <a:avLst/>
          </a:prstGeom>
          <a:noFill/>
        </p:spPr>
        <p:txBody>
          <a:bodyPr wrap="square" rtlCol="0" anchor="ctr"/>
          <a:lstStyle/>
          <a:p>
            <a:pPr marL="0" indent="0">
              <a:buNone/>
            </a:pPr>
            <a:r>
              <a:rPr lang="en-US" sz="1400" i="1" dirty="0">
                <a:solidFill>
                  <a:srgbClr val="5B6B73"/>
                </a:solidFill>
                <a:latin typeface="Calibri" panose="020F0502020204030204" pitchFamily="34" charset="0"/>
                <a:ea typeface="Calibri" panose="020F0502020204030204" pitchFamily="34" charset="-122"/>
                <a:cs typeface="Calibri" panose="020F0502020204030204" pitchFamily="34" charset="-120"/>
              </a:rPr>
              <a:t>Final analysis feature set: 11 columns (6 raw + 3 engineered + 2 one-hot age-group indicators)  -&gt;  Ordinal target encoding: low=0, mid=1, high=2  -&gt;  Train 811 / Test 203 (80/20 stratified split)</a:t>
            </a:r>
            <a:endParaRPr lang="en-US" sz="1400" i="1"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txBox="1"/>
          <p:nvPr/>
        </p:nvSpPr>
        <p:spPr>
          <a:xfrm>
            <a:off x="457200" y="6473952"/>
            <a:ext cx="7315200" cy="274320"/>
          </a:xfrm>
          <a:prstGeom prst="rect">
            <a:avLst/>
          </a:prstGeom>
          <a:noFill/>
        </p:spPr>
        <p:txBody>
          <a:bodyPr wrap="square" rtlCol="0" anchor="ctr"/>
          <a:lstStyle/>
          <a:p>
            <a:pPr marL="0" indent="0" algn="l">
              <a:buNone/>
            </a:pPr>
            <a:r>
              <a:rPr lang="en-US" sz="10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10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txBox="1"/>
          <p:nvPr/>
        </p:nvSpPr>
        <p:spPr>
          <a:xfrm>
            <a:off x="11277295" y="6473952"/>
            <a:ext cx="457200" cy="274320"/>
          </a:xfrm>
          <a:prstGeom prst="rect">
            <a:avLst/>
          </a:prstGeom>
          <a:noFill/>
        </p:spPr>
        <p:txBody>
          <a:bodyPr wrap="square" rtlCol="0" anchor="ctr"/>
          <a:lstStyle/>
          <a:p>
            <a:pPr marL="0" indent="0" algn="r">
              <a:buNone/>
            </a:pPr>
            <a:r>
              <a:rPr lang="en-US" sz="1000" dirty="0">
                <a:solidFill>
                  <a:srgbClr val="5B6B73"/>
                </a:solidFill>
                <a:latin typeface="Calibri" panose="020F0502020204030204" pitchFamily="34" charset="0"/>
                <a:ea typeface="Calibri" panose="020F0502020204030204" pitchFamily="34" charset="-122"/>
                <a:cs typeface="Calibri" panose="020F0502020204030204" pitchFamily="34" charset="-120"/>
              </a:rPr>
              <a:t>9</a:t>
            </a:r>
            <a:endParaRPr lang="en-US" sz="10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04 · METHODOLOGY</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Overall Pipeline Architecture</a:t>
            </a:r>
            <a:endParaRPr lang="en-US" sz="3000" dirty="0"/>
          </a:p>
        </p:txBody>
      </p:sp>
      <p:pic>
        <p:nvPicPr>
          <p:cNvPr id="4" name="Image 0" descr="/home/claude/ppt/docx_extracted/word/media/image2.png"/>
          <p:cNvPicPr>
            <a:picLocks noChangeAspect="1"/>
          </p:cNvPicPr>
          <p:nvPr/>
        </p:nvPicPr>
        <p:blipFill>
          <a:blip r:embed="rId1"/>
          <a:stretch>
            <a:fillRect/>
          </a:stretch>
        </p:blipFill>
        <p:spPr>
          <a:xfrm>
            <a:off x="1722912" y="1554480"/>
            <a:ext cx="8715695" cy="4754880"/>
          </a:xfrm>
          <a:prstGeom prst="rect">
            <a:avLst/>
          </a:prstGeom>
        </p:spPr>
      </p:pic>
      <p:sp>
        <p:nvSpPr>
          <p:cNvPr id="5" name="Text 2"/>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6" name="Text 3"/>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293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8FD4C1"/>
                </a:solidFill>
                <a:latin typeface="Calibri" panose="020F0502020204030204" pitchFamily="34" charset="0"/>
                <a:ea typeface="Calibri" panose="020F0502020204030204" pitchFamily="34" charset="-122"/>
                <a:cs typeface="Calibri" panose="020F0502020204030204" pitchFamily="34" charset="-120"/>
              </a:rPr>
              <a:t>04 · METHODOLOGY</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Why Cross-Validation-Only Model Selection</a:t>
            </a:r>
            <a:endParaRPr lang="en-US" sz="3000" dirty="0"/>
          </a:p>
        </p:txBody>
      </p:sp>
      <p:sp>
        <p:nvSpPr>
          <p:cNvPr id="4" name="Text 2"/>
          <p:cNvSpPr txBox="1"/>
          <p:nvPr/>
        </p:nvSpPr>
        <p:spPr>
          <a:xfrm>
            <a:off x="914400" y="2103120"/>
            <a:ext cx="10332720" cy="1280160"/>
          </a:xfrm>
          <a:prstGeom prst="rect">
            <a:avLst/>
          </a:prstGeom>
          <a:noFill/>
        </p:spPr>
        <p:txBody>
          <a:bodyPr wrap="square" rtlCol="0" anchor="ctr"/>
          <a:lstStyle/>
          <a:p>
            <a:pPr marL="0" indent="0" algn="ctr">
              <a:buNone/>
            </a:pPr>
            <a:r>
              <a:rPr lang="en-US" sz="2400" i="1" dirty="0">
                <a:solidFill>
                  <a:srgbClr val="E4ECEE"/>
                </a:solidFill>
                <a:latin typeface="Cambria" panose="02040503050406030204" pitchFamily="34" charset="0"/>
                <a:ea typeface="Cambria" panose="02040503050406030204" pitchFamily="34" charset="-122"/>
                <a:cs typeface="Cambria" panose="02040503050406030204" pitchFamily="34" charset="-120"/>
              </a:rPr>
              <a:t>“The test set is touched exactly once  to report the honest, unbiased performance of the already-selected model.”</a:t>
            </a:r>
            <a:endParaRPr lang="en-US" sz="2400" dirty="0"/>
          </a:p>
        </p:txBody>
      </p:sp>
      <p:sp>
        <p:nvSpPr>
          <p:cNvPr id="5" name="Shape 3"/>
          <p:cNvSpPr/>
          <p:nvPr/>
        </p:nvSpPr>
        <p:spPr>
          <a:xfrm>
            <a:off x="914400" y="3749040"/>
            <a:ext cx="5029200" cy="2377440"/>
          </a:xfrm>
          <a:prstGeom prst="roundRect">
            <a:avLst>
              <a:gd name="adj" fmla="val 3077"/>
            </a:avLst>
          </a:prstGeom>
          <a:solidFill>
            <a:srgbClr val="3A1F1F"/>
          </a:solidFill>
        </p:spPr>
      </p:sp>
      <p:sp>
        <p:nvSpPr>
          <p:cNvPr id="6" name="Text 4"/>
          <p:cNvSpPr txBox="1"/>
          <p:nvPr/>
        </p:nvSpPr>
        <p:spPr>
          <a:xfrm>
            <a:off x="1188720" y="3931920"/>
            <a:ext cx="4572000" cy="457200"/>
          </a:xfrm>
          <a:prstGeom prst="rect">
            <a:avLst/>
          </a:prstGeom>
          <a:noFill/>
        </p:spPr>
        <p:txBody>
          <a:bodyPr wrap="square" rtlCol="0" anchor="ctr"/>
          <a:lstStyle/>
          <a:p>
            <a:pPr marL="0" indent="0">
              <a:buNone/>
            </a:pPr>
            <a:r>
              <a:rPr lang="en-US" b="1" dirty="0">
                <a:solidFill>
                  <a:srgbClr val="F3A79A"/>
                </a:solidFill>
                <a:latin typeface="Calibri" panose="020F0502020204030204" pitchFamily="34" charset="0"/>
                <a:ea typeface="Calibri" panose="020F0502020204030204" pitchFamily="34" charset="-122"/>
                <a:cs typeface="Calibri" panose="020F0502020204030204" pitchFamily="34" charset="-120"/>
              </a:rPr>
              <a:t>What we avoided</a:t>
            </a:r>
            <a:endParaRPr lang="en-US" b="1" dirty="0">
              <a:solidFill>
                <a:srgbClr val="F3A79A"/>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nvSpPr>
        <p:spPr>
          <a:xfrm>
            <a:off x="1188720" y="4434840"/>
            <a:ext cx="4480560" cy="1554480"/>
          </a:xfrm>
          <a:prstGeom prst="rect">
            <a:avLst/>
          </a:prstGeom>
          <a:noFill/>
        </p:spPr>
        <p:txBody>
          <a:bodyPr wrap="square" rtlCol="0" anchor="t"/>
          <a:lstStyle/>
          <a:p>
            <a:pPr marL="0" indent="0">
              <a:buNone/>
            </a:pPr>
            <a:r>
              <a:rPr lang="en-US" sz="1600" dirty="0">
                <a:solidFill>
                  <a:srgbClr val="E4ECEE"/>
                </a:solidFill>
                <a:latin typeface="Calibri" panose="020F0502020204030204" pitchFamily="34" charset="0"/>
                <a:ea typeface="Calibri" panose="020F0502020204030204" pitchFamily="34" charset="-122"/>
                <a:cs typeface="Calibri" panose="020F0502020204030204" pitchFamily="34" charset="-120"/>
              </a:rPr>
              <a:t>Choosing the model by comparing candidates directly on the test set  a subtle but real form of test-set leakage into model selection.</a:t>
            </a:r>
            <a:endParaRPr lang="en-US" sz="1600" dirty="0">
              <a:solidFill>
                <a:srgbClr val="E4ECEE"/>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6263640" y="3749040"/>
            <a:ext cx="5029200" cy="2377440"/>
          </a:xfrm>
          <a:prstGeom prst="roundRect">
            <a:avLst>
              <a:gd name="adj" fmla="val 3077"/>
            </a:avLst>
          </a:prstGeom>
          <a:solidFill>
            <a:srgbClr val="1B3A34"/>
          </a:solidFill>
        </p:spPr>
      </p:sp>
      <p:sp>
        <p:nvSpPr>
          <p:cNvPr id="9" name="Text 7"/>
          <p:cNvSpPr txBox="1"/>
          <p:nvPr/>
        </p:nvSpPr>
        <p:spPr>
          <a:xfrm>
            <a:off x="6537960" y="3931920"/>
            <a:ext cx="4572000" cy="457200"/>
          </a:xfrm>
          <a:prstGeom prst="rect">
            <a:avLst/>
          </a:prstGeom>
          <a:noFill/>
        </p:spPr>
        <p:txBody>
          <a:bodyPr wrap="square" rtlCol="0" anchor="ctr"/>
          <a:lstStyle/>
          <a:p>
            <a:pPr marL="0" indent="0">
              <a:buNone/>
            </a:pPr>
            <a:r>
              <a:rPr lang="en-US" b="1" dirty="0">
                <a:solidFill>
                  <a:srgbClr val="8FD4C1"/>
                </a:solidFill>
                <a:latin typeface="Calibri" panose="020F0502020204030204" pitchFamily="34" charset="0"/>
                <a:ea typeface="Calibri" panose="020F0502020204030204" pitchFamily="34" charset="-122"/>
                <a:cs typeface="Calibri" panose="020F0502020204030204" pitchFamily="34" charset="-120"/>
              </a:rPr>
              <a:t>What we did instead</a:t>
            </a:r>
            <a:endParaRPr lang="en-US" b="1" dirty="0">
              <a:solidFill>
                <a:srgbClr val="8FD4C1"/>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nvSpPr>
        <p:spPr>
          <a:xfrm>
            <a:off x="6537960" y="4434840"/>
            <a:ext cx="4480560" cy="1554480"/>
          </a:xfrm>
          <a:prstGeom prst="rect">
            <a:avLst/>
          </a:prstGeom>
          <a:noFill/>
        </p:spPr>
        <p:txBody>
          <a:bodyPr wrap="square" rtlCol="0" anchor="t"/>
          <a:lstStyle/>
          <a:p>
            <a:pPr marL="0" indent="0">
              <a:buNone/>
            </a:pPr>
            <a:r>
              <a:rPr lang="en-US" sz="1600" dirty="0">
                <a:solidFill>
                  <a:srgbClr val="E4ECEE"/>
                </a:solidFill>
                <a:latin typeface="Calibri" panose="020F0502020204030204" pitchFamily="34" charset="0"/>
                <a:ea typeface="Calibri" panose="020F0502020204030204" pitchFamily="34" charset="-122"/>
                <a:cs typeface="Calibri" panose="020F0502020204030204" pitchFamily="34" charset="-120"/>
              </a:rPr>
              <a:t>Selected strictly by cross-validated macro F1 on the training set (via GridSearchCV), before the test set was consulted at all.</a:t>
            </a:r>
            <a:endParaRPr lang="en-US" sz="1600" dirty="0">
              <a:solidFill>
                <a:srgbClr val="E4ECEE"/>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2" name="Text 10"/>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04 · METHODOLOGY</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Seven Algorithms Compared</a:t>
            </a:r>
            <a:endParaRPr lang="en-US" sz="3000" dirty="0"/>
          </a:p>
        </p:txBody>
      </p:sp>
      <p:sp>
        <p:nvSpPr>
          <p:cNvPr id="4" name="Shape 2"/>
          <p:cNvSpPr/>
          <p:nvPr/>
        </p:nvSpPr>
        <p:spPr>
          <a:xfrm>
            <a:off x="548640" y="1645920"/>
            <a:ext cx="5440680" cy="1078992"/>
          </a:xfrm>
          <a:prstGeom prst="roundRect">
            <a:avLst>
              <a:gd name="adj" fmla="val 5932"/>
            </a:avLst>
          </a:prstGeom>
          <a:solidFill>
            <a:srgbClr val="FFFFFF"/>
          </a:solidFill>
          <a:ln w="12700">
            <a:solidFill>
              <a:srgbClr val="DCE7EA"/>
            </a:solidFill>
            <a:prstDash val="solid"/>
          </a:ln>
        </p:spPr>
      </p:sp>
      <p:sp>
        <p:nvSpPr>
          <p:cNvPr id="5" name="Shape 3"/>
          <p:cNvSpPr/>
          <p:nvPr/>
        </p:nvSpPr>
        <p:spPr>
          <a:xfrm>
            <a:off x="713232" y="1956816"/>
            <a:ext cx="457200" cy="457200"/>
          </a:xfrm>
          <a:prstGeom prst="roundRect">
            <a:avLst>
              <a:gd name="adj" fmla="val 50000"/>
            </a:avLst>
          </a:prstGeom>
          <a:solidFill>
            <a:srgbClr val="0B3D57"/>
          </a:solidFill>
        </p:spPr>
      </p:sp>
      <p:sp>
        <p:nvSpPr>
          <p:cNvPr id="6" name="Text 4"/>
          <p:cNvSpPr txBox="1"/>
          <p:nvPr/>
        </p:nvSpPr>
        <p:spPr>
          <a:xfrm>
            <a:off x="713232" y="1956816"/>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7" name="Text 5"/>
          <p:cNvSpPr txBox="1"/>
          <p:nvPr/>
        </p:nvSpPr>
        <p:spPr>
          <a:xfrm>
            <a:off x="1325880" y="1773936"/>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txBox="1"/>
          <p:nvPr/>
        </p:nvSpPr>
        <p:spPr>
          <a:xfrm>
            <a:off x="1325880" y="2176272"/>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Linear baseline / lower-bound reference</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6400800" y="1645920"/>
            <a:ext cx="5440680" cy="1078992"/>
          </a:xfrm>
          <a:prstGeom prst="roundRect">
            <a:avLst>
              <a:gd name="adj" fmla="val 5932"/>
            </a:avLst>
          </a:prstGeom>
          <a:solidFill>
            <a:srgbClr val="FFFFFF"/>
          </a:solidFill>
          <a:ln w="12700">
            <a:solidFill>
              <a:srgbClr val="DCE7EA"/>
            </a:solidFill>
            <a:prstDash val="solid"/>
          </a:ln>
        </p:spPr>
      </p:sp>
      <p:sp>
        <p:nvSpPr>
          <p:cNvPr id="10" name="Shape 8"/>
          <p:cNvSpPr/>
          <p:nvPr/>
        </p:nvSpPr>
        <p:spPr>
          <a:xfrm>
            <a:off x="6565392" y="1956816"/>
            <a:ext cx="457200" cy="457200"/>
          </a:xfrm>
          <a:prstGeom prst="roundRect">
            <a:avLst>
              <a:gd name="adj" fmla="val 50000"/>
            </a:avLst>
          </a:prstGeom>
          <a:solidFill>
            <a:srgbClr val="0B3D57"/>
          </a:solidFill>
        </p:spPr>
      </p:sp>
      <p:sp>
        <p:nvSpPr>
          <p:cNvPr id="11" name="Text 9"/>
          <p:cNvSpPr txBox="1"/>
          <p:nvPr/>
        </p:nvSpPr>
        <p:spPr>
          <a:xfrm>
            <a:off x="6565392" y="1956816"/>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2" name="Text 10"/>
          <p:cNvSpPr txBox="1"/>
          <p:nvPr/>
        </p:nvSpPr>
        <p:spPr>
          <a:xfrm>
            <a:off x="7178040" y="1773936"/>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Decision Tree</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nvSpPr>
        <p:spPr>
          <a:xfrm>
            <a:off x="7178040" y="2176272"/>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Interpretable rule-based classifier</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548640" y="2862072"/>
            <a:ext cx="5440680" cy="1078992"/>
          </a:xfrm>
          <a:prstGeom prst="roundRect">
            <a:avLst>
              <a:gd name="adj" fmla="val 5932"/>
            </a:avLst>
          </a:prstGeom>
          <a:solidFill>
            <a:srgbClr val="FFFFFF"/>
          </a:solidFill>
          <a:ln w="12700">
            <a:solidFill>
              <a:srgbClr val="DCE7EA"/>
            </a:solidFill>
            <a:prstDash val="solid"/>
          </a:ln>
        </p:spPr>
      </p:sp>
      <p:sp>
        <p:nvSpPr>
          <p:cNvPr id="15" name="Shape 13"/>
          <p:cNvSpPr/>
          <p:nvPr/>
        </p:nvSpPr>
        <p:spPr>
          <a:xfrm>
            <a:off x="713232" y="3172968"/>
            <a:ext cx="457200" cy="457200"/>
          </a:xfrm>
          <a:prstGeom prst="roundRect">
            <a:avLst>
              <a:gd name="adj" fmla="val 50000"/>
            </a:avLst>
          </a:prstGeom>
          <a:solidFill>
            <a:srgbClr val="0B3D57"/>
          </a:solidFill>
        </p:spPr>
      </p:sp>
      <p:sp>
        <p:nvSpPr>
          <p:cNvPr id="16" name="Text 14"/>
          <p:cNvSpPr txBox="1"/>
          <p:nvPr/>
        </p:nvSpPr>
        <p:spPr>
          <a:xfrm>
            <a:off x="713232" y="3172968"/>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7" name="Text 15"/>
          <p:cNvSpPr txBox="1"/>
          <p:nvPr/>
        </p:nvSpPr>
        <p:spPr>
          <a:xfrm>
            <a:off x="1325880" y="2990088"/>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K-Nearest Neighbors</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txBox="1"/>
          <p:nvPr/>
        </p:nvSpPr>
        <p:spPr>
          <a:xfrm>
            <a:off x="1325880" y="3392424"/>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Non-parametric, distance-based</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6400800" y="2862072"/>
            <a:ext cx="5440680" cy="1078992"/>
          </a:xfrm>
          <a:prstGeom prst="roundRect">
            <a:avLst>
              <a:gd name="adj" fmla="val 5932"/>
            </a:avLst>
          </a:prstGeom>
          <a:solidFill>
            <a:srgbClr val="FFFFFF"/>
          </a:solidFill>
          <a:ln w="12700">
            <a:solidFill>
              <a:srgbClr val="DCE7EA"/>
            </a:solidFill>
            <a:prstDash val="solid"/>
          </a:ln>
        </p:spPr>
      </p:sp>
      <p:sp>
        <p:nvSpPr>
          <p:cNvPr id="20" name="Shape 18"/>
          <p:cNvSpPr/>
          <p:nvPr/>
        </p:nvSpPr>
        <p:spPr>
          <a:xfrm>
            <a:off x="6565392" y="3172968"/>
            <a:ext cx="457200" cy="457200"/>
          </a:xfrm>
          <a:prstGeom prst="roundRect">
            <a:avLst>
              <a:gd name="adj" fmla="val 50000"/>
            </a:avLst>
          </a:prstGeom>
          <a:solidFill>
            <a:srgbClr val="0B3D57"/>
          </a:solidFill>
        </p:spPr>
      </p:sp>
      <p:sp>
        <p:nvSpPr>
          <p:cNvPr id="21" name="Text 19"/>
          <p:cNvSpPr txBox="1"/>
          <p:nvPr/>
        </p:nvSpPr>
        <p:spPr>
          <a:xfrm>
            <a:off x="6565392" y="3172968"/>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2" name="Text 20"/>
          <p:cNvSpPr txBox="1"/>
          <p:nvPr/>
        </p:nvSpPr>
        <p:spPr>
          <a:xfrm>
            <a:off x="7178040" y="2990088"/>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Support Vector Machine</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txBox="1"/>
          <p:nvPr/>
        </p:nvSpPr>
        <p:spPr>
          <a:xfrm>
            <a:off x="7178040" y="3392424"/>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Kernel-based (RBF)</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548640" y="4078224"/>
            <a:ext cx="5440680" cy="1078992"/>
          </a:xfrm>
          <a:prstGeom prst="roundRect">
            <a:avLst>
              <a:gd name="adj" fmla="val 5932"/>
            </a:avLst>
          </a:prstGeom>
          <a:solidFill>
            <a:srgbClr val="FFFFFF"/>
          </a:solidFill>
          <a:ln w="12700">
            <a:solidFill>
              <a:srgbClr val="DCE7EA"/>
            </a:solidFill>
            <a:prstDash val="solid"/>
          </a:ln>
        </p:spPr>
      </p:sp>
      <p:sp>
        <p:nvSpPr>
          <p:cNvPr id="25" name="Shape 23"/>
          <p:cNvSpPr/>
          <p:nvPr/>
        </p:nvSpPr>
        <p:spPr>
          <a:xfrm>
            <a:off x="713232" y="4389120"/>
            <a:ext cx="457200" cy="457200"/>
          </a:xfrm>
          <a:prstGeom prst="roundRect">
            <a:avLst>
              <a:gd name="adj" fmla="val 50000"/>
            </a:avLst>
          </a:prstGeom>
          <a:solidFill>
            <a:srgbClr val="0B3D57"/>
          </a:solidFill>
        </p:spPr>
      </p:sp>
      <p:sp>
        <p:nvSpPr>
          <p:cNvPr id="26" name="Text 24"/>
          <p:cNvSpPr txBox="1"/>
          <p:nvPr/>
        </p:nvSpPr>
        <p:spPr>
          <a:xfrm>
            <a:off x="713232" y="4389120"/>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5</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7" name="Text 25"/>
          <p:cNvSpPr txBox="1"/>
          <p:nvPr/>
        </p:nvSpPr>
        <p:spPr>
          <a:xfrm>
            <a:off x="1325880" y="4206240"/>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Random Forest</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txBox="1"/>
          <p:nvPr/>
        </p:nvSpPr>
        <p:spPr>
          <a:xfrm>
            <a:off x="1325880" y="4608576"/>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Bagging ensemble of trees</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6400800" y="4078224"/>
            <a:ext cx="5440680" cy="1078992"/>
          </a:xfrm>
          <a:prstGeom prst="roundRect">
            <a:avLst>
              <a:gd name="adj" fmla="val 5932"/>
            </a:avLst>
          </a:prstGeom>
          <a:solidFill>
            <a:srgbClr val="FFFFFF"/>
          </a:solidFill>
          <a:ln w="12700">
            <a:solidFill>
              <a:srgbClr val="DCE7EA"/>
            </a:solidFill>
            <a:prstDash val="solid"/>
          </a:ln>
        </p:spPr>
      </p:sp>
      <p:sp>
        <p:nvSpPr>
          <p:cNvPr id="30" name="Shape 28"/>
          <p:cNvSpPr/>
          <p:nvPr/>
        </p:nvSpPr>
        <p:spPr>
          <a:xfrm>
            <a:off x="6565392" y="4389120"/>
            <a:ext cx="457200" cy="457200"/>
          </a:xfrm>
          <a:prstGeom prst="roundRect">
            <a:avLst>
              <a:gd name="adj" fmla="val 50000"/>
            </a:avLst>
          </a:prstGeom>
          <a:solidFill>
            <a:srgbClr val="0B3D57"/>
          </a:solidFill>
        </p:spPr>
      </p:sp>
      <p:sp>
        <p:nvSpPr>
          <p:cNvPr id="31" name="Text 29"/>
          <p:cNvSpPr txBox="1"/>
          <p:nvPr/>
        </p:nvSpPr>
        <p:spPr>
          <a:xfrm>
            <a:off x="6565392" y="4389120"/>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6</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32" name="Text 30"/>
          <p:cNvSpPr txBox="1"/>
          <p:nvPr/>
        </p:nvSpPr>
        <p:spPr>
          <a:xfrm>
            <a:off x="7178040" y="4206240"/>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Gradient Boosting</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31"/>
          <p:cNvSpPr txBox="1"/>
          <p:nvPr/>
        </p:nvSpPr>
        <p:spPr>
          <a:xfrm>
            <a:off x="7178040" y="4608576"/>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Sequential boosting ensemble</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Shape 32"/>
          <p:cNvSpPr/>
          <p:nvPr/>
        </p:nvSpPr>
        <p:spPr>
          <a:xfrm>
            <a:off x="548640" y="5294376"/>
            <a:ext cx="5440680" cy="1078992"/>
          </a:xfrm>
          <a:prstGeom prst="roundRect">
            <a:avLst>
              <a:gd name="adj" fmla="val 5932"/>
            </a:avLst>
          </a:prstGeom>
          <a:solidFill>
            <a:srgbClr val="FFFFFF"/>
          </a:solidFill>
          <a:ln w="12700">
            <a:solidFill>
              <a:srgbClr val="DCE7EA"/>
            </a:solidFill>
            <a:prstDash val="solid"/>
          </a:ln>
        </p:spPr>
      </p:sp>
      <p:sp>
        <p:nvSpPr>
          <p:cNvPr id="35" name="Shape 33"/>
          <p:cNvSpPr/>
          <p:nvPr/>
        </p:nvSpPr>
        <p:spPr>
          <a:xfrm>
            <a:off x="713232" y="5605272"/>
            <a:ext cx="457200" cy="457200"/>
          </a:xfrm>
          <a:prstGeom prst="roundRect">
            <a:avLst>
              <a:gd name="adj" fmla="val 50000"/>
            </a:avLst>
          </a:prstGeom>
          <a:solidFill>
            <a:srgbClr val="0B3D57"/>
          </a:solidFill>
        </p:spPr>
      </p:sp>
      <p:sp>
        <p:nvSpPr>
          <p:cNvPr id="36" name="Text 34"/>
          <p:cNvSpPr txBox="1"/>
          <p:nvPr/>
        </p:nvSpPr>
        <p:spPr>
          <a:xfrm>
            <a:off x="713232" y="5605272"/>
            <a:ext cx="457200" cy="457200"/>
          </a:xfrm>
          <a:prstGeom prst="rect">
            <a:avLst/>
          </a:prstGeom>
          <a:noFill/>
        </p:spPr>
        <p:txBody>
          <a:bodyPr wrap="square"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7</a:t>
            </a:r>
            <a:endPar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37" name="Text 35"/>
          <p:cNvSpPr txBox="1"/>
          <p:nvPr/>
        </p:nvSpPr>
        <p:spPr>
          <a:xfrm>
            <a:off x="1325880" y="5422392"/>
            <a:ext cx="4526280" cy="411480"/>
          </a:xfrm>
          <a:prstGeom prst="rect">
            <a:avLst/>
          </a:prstGeom>
          <a:noFill/>
        </p:spPr>
        <p:txBody>
          <a:bodyPr wrap="square" rtlCol="0" anchor="ctr"/>
          <a:lstStyle/>
          <a:p>
            <a:pPr marL="0" indent="0">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MLP Neural Network</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Text 36"/>
          <p:cNvSpPr txBox="1"/>
          <p:nvPr/>
        </p:nvSpPr>
        <p:spPr>
          <a:xfrm>
            <a:off x="1325880" y="5824728"/>
            <a:ext cx="452628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Feed-forward neural network</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Text 37"/>
          <p:cNvSpPr txBox="1"/>
          <p:nvPr/>
        </p:nvSpPr>
        <p:spPr>
          <a:xfrm>
            <a:off x="457200" y="6473952"/>
            <a:ext cx="7315200" cy="274320"/>
          </a:xfrm>
          <a:prstGeom prst="rect">
            <a:avLst/>
          </a:prstGeom>
          <a:noFill/>
        </p:spPr>
        <p:txBody>
          <a:bodyPr wrap="square" rtlCol="0" anchor="ctr"/>
          <a:lstStyle/>
          <a:p>
            <a:pPr marL="0" indent="0" algn="l">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txBox="1"/>
          <p:nvPr/>
        </p:nvSpPr>
        <p:spPr>
          <a:xfrm>
            <a:off x="11277295" y="6473952"/>
            <a:ext cx="457200" cy="274320"/>
          </a:xfrm>
          <a:prstGeom prst="rect">
            <a:avLst/>
          </a:prstGeom>
          <a:noFill/>
        </p:spPr>
        <p:txBody>
          <a:bodyPr wrap="square" rtlCol="0" anchor="ctr"/>
          <a:lstStyle/>
          <a:p>
            <a:pPr marL="0" indent="0" algn="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12</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Hyperparameter Tuning — All 7 Models Tuned</a:t>
            </a:r>
            <a:endParaRPr lang="en-US" sz="3000" dirty="0"/>
          </a:p>
        </p:txBody>
      </p:sp>
      <p:graphicFrame>
        <p:nvGraphicFramePr>
          <p:cNvPr id="14" name="Table 0"/>
          <p:cNvGraphicFramePr>
            <a:graphicFrameLocks noGrp="1"/>
          </p:cNvGraphicFramePr>
          <p:nvPr/>
        </p:nvGraphicFramePr>
        <p:xfrm>
          <a:off x="548640" y="1691640"/>
          <a:ext cx="11064240" cy="4023360"/>
        </p:xfrm>
        <a:graphic>
          <a:graphicData uri="http://schemas.openxmlformats.org/drawingml/2006/table">
            <a:tbl>
              <a:tblPr/>
              <a:tblGrid>
                <a:gridCol w="3931920"/>
                <a:gridCol w="2651760"/>
                <a:gridCol w="2194560"/>
                <a:gridCol w="2286000"/>
              </a:tblGrid>
              <a:tr h="502920">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CV Macro F1</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Configurations</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Tuning Time (s)</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r>
              <a:tr h="502920">
                <a:tc>
                  <a:txBody>
                    <a:bodyPr/>
                    <a:lstStyle/>
                    <a:p>
                      <a:pPr marL="0" indent="0" algn="l">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Random Forest</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E9F3F0"/>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0.8338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E9F3F0"/>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48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E9F3F0"/>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35.66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E9F3F0"/>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Gradient Boosting</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0.8208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36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12.02</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Decision Tree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0.8120</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24</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0.47</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KNN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0.8057</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20</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0.45</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SVM</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0.6895</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12</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1.29</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MLP Neural Network</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0.6585</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1.48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0.6180</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7.29</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bl>
          </a:graphicData>
        </a:graphic>
      </p:graphicFrame>
      <p:sp>
        <p:nvSpPr>
          <p:cNvPr id="5" name="Text 2"/>
          <p:cNvSpPr txBox="1"/>
          <p:nvPr/>
        </p:nvSpPr>
        <p:spPr>
          <a:xfrm>
            <a:off x="548640" y="5852160"/>
            <a:ext cx="11064240" cy="457200"/>
          </a:xfrm>
          <a:prstGeom prst="rect">
            <a:avLst/>
          </a:prstGeom>
          <a:noFill/>
        </p:spPr>
        <p:txBody>
          <a:bodyPr wrap="square" rtlCol="0" anchor="ctr"/>
          <a:lstStyle/>
          <a:p>
            <a:pPr marL="0" indent="0">
              <a:buNone/>
            </a:pPr>
            <a:r>
              <a:rPr lang="en-US" sz="1600" i="1" dirty="0">
                <a:solidFill>
                  <a:srgbClr val="5B6B73"/>
                </a:solidFill>
                <a:latin typeface="Calibri" panose="020F0502020204030204" pitchFamily="34" charset="0"/>
                <a:ea typeface="Calibri" panose="020F0502020204030204" pitchFamily="34" charset="-122"/>
                <a:cs typeface="Calibri" panose="020F0502020204030204" pitchFamily="34" charset="-120"/>
              </a:rPr>
              <a:t>Random Forest achieved the highest cross-validated Macro F1 (0.8338) and was selected as the final model before the test set was consulted.</a:t>
            </a:r>
            <a:endParaRPr lang="en-US" sz="1600" i="1"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3"/>
          <p:cNvSpPr txBox="1"/>
          <p:nvPr/>
        </p:nvSpPr>
        <p:spPr>
          <a:xfrm>
            <a:off x="457200" y="6473952"/>
            <a:ext cx="7315200" cy="274320"/>
          </a:xfrm>
          <a:prstGeom prst="rect">
            <a:avLst/>
          </a:prstGeom>
          <a:noFill/>
        </p:spPr>
        <p:txBody>
          <a:bodyPr wrap="square" rtlCol="0" anchor="ctr"/>
          <a:lstStyle/>
          <a:p>
            <a:pPr marL="0" indent="0" algn="l">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4"/>
          <p:cNvSpPr txBox="1"/>
          <p:nvPr/>
        </p:nvSpPr>
        <p:spPr>
          <a:xfrm>
            <a:off x="11277295" y="6473952"/>
            <a:ext cx="457200" cy="274320"/>
          </a:xfrm>
          <a:prstGeom prst="rect">
            <a:avLst/>
          </a:prstGeom>
          <a:noFill/>
        </p:spPr>
        <p:txBody>
          <a:bodyPr wrap="square" rtlCol="0" anchor="ctr"/>
          <a:lstStyle/>
          <a:p>
            <a:pPr marL="0" indent="0" algn="r">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13</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Held-Out Test Set — All 7 Tuned Models</a:t>
            </a:r>
            <a:endParaRPr lang="en-US" sz="3000" dirty="0"/>
          </a:p>
        </p:txBody>
      </p:sp>
      <p:pic>
        <p:nvPicPr>
          <p:cNvPr id="4" name="Image 0" descr="/home/claude/ppt/docx_extracted/word/media/image6.png"/>
          <p:cNvPicPr>
            <a:picLocks noChangeAspect="1"/>
          </p:cNvPicPr>
          <p:nvPr/>
        </p:nvPicPr>
        <p:blipFill>
          <a:blip r:embed="rId1"/>
          <a:stretch>
            <a:fillRect/>
          </a:stretch>
        </p:blipFill>
        <p:spPr>
          <a:xfrm>
            <a:off x="1523299" y="1485900"/>
            <a:ext cx="9114922" cy="4206240"/>
          </a:xfrm>
          <a:prstGeom prst="rect">
            <a:avLst/>
          </a:prstGeom>
        </p:spPr>
      </p:pic>
      <p:sp>
        <p:nvSpPr>
          <p:cNvPr id="5" name="Text 2"/>
          <p:cNvSpPr txBox="1"/>
          <p:nvPr/>
        </p:nvSpPr>
        <p:spPr>
          <a:xfrm>
            <a:off x="548640" y="5989320"/>
            <a:ext cx="11064240" cy="457200"/>
          </a:xfrm>
          <a:prstGeom prst="rect">
            <a:avLst/>
          </a:prstGeom>
          <a:noFill/>
        </p:spPr>
        <p:txBody>
          <a:bodyPr wrap="square" rtlCol="0" anchor="ctr"/>
          <a:lstStyle/>
          <a:p>
            <a:pPr marL="0" indent="0">
              <a:buNone/>
            </a:pPr>
            <a:r>
              <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rPr>
              <a:t>n = 203 held-out test records. Random Forest: Accuracy 0.847 · Macro F1 0.851 · ROC-AUC (macro) 0.953 · Average Precision 0.921.</a:t>
            </a:r>
            <a:endParaRPr lang="en-US" sz="16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3"/>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7" name="Text 4"/>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An Important Methodological Observation</a:t>
            </a:r>
            <a:endParaRPr lang="en-US" sz="3000" dirty="0"/>
          </a:p>
        </p:txBody>
      </p:sp>
      <p:sp>
        <p:nvSpPr>
          <p:cNvPr id="4" name="Shape 2"/>
          <p:cNvSpPr/>
          <p:nvPr/>
        </p:nvSpPr>
        <p:spPr>
          <a:xfrm>
            <a:off x="548640" y="1691640"/>
            <a:ext cx="11064240" cy="1371600"/>
          </a:xfrm>
          <a:prstGeom prst="roundRect">
            <a:avLst>
              <a:gd name="adj" fmla="val 5333"/>
            </a:avLst>
          </a:prstGeom>
          <a:solidFill>
            <a:srgbClr val="FFF1EC"/>
          </a:solidFill>
          <a:ln w="12700">
            <a:solidFill>
              <a:srgbClr val="E76F51"/>
            </a:solidFill>
            <a:prstDash val="solid"/>
          </a:ln>
        </p:spPr>
      </p:sp>
      <p:sp>
        <p:nvSpPr>
          <p:cNvPr id="5" name="Text 3"/>
          <p:cNvSpPr txBox="1"/>
          <p:nvPr/>
        </p:nvSpPr>
        <p:spPr>
          <a:xfrm>
            <a:off x="822960" y="1828800"/>
            <a:ext cx="10515600" cy="1097280"/>
          </a:xfrm>
          <a:prstGeom prst="rect">
            <a:avLst/>
          </a:prstGeom>
          <a:noFill/>
        </p:spPr>
        <p:txBody>
          <a:bodyPr wrap="square" rtlCol="0" anchor="ctr"/>
          <a:lstStyle/>
          <a:p>
            <a:pPr marL="0" indent="0">
              <a:buNone/>
            </a:pPr>
            <a:r>
              <a:rPr lang="en-US" b="1" dirty="0">
                <a:solidFill>
                  <a:srgbClr val="8A3B24"/>
                </a:solidFill>
                <a:latin typeface="Calibri" panose="020F0502020204030204" pitchFamily="34" charset="0"/>
                <a:ea typeface="Calibri" panose="020F0502020204030204" pitchFamily="34" charset="-122"/>
                <a:cs typeface="Calibri" panose="020F0502020204030204" pitchFamily="34" charset="-120"/>
              </a:rPr>
              <a:t>On the test set alone, Decision Tree (F1 = 0.856) and KNN (F1 = 0.852) marginally edge out Random Forest </a:t>
            </a:r>
            <a:br>
              <a:rPr lang="en-US" b="1" dirty="0">
                <a:solidFill>
                  <a:srgbClr val="8A3B24"/>
                </a:solidFill>
                <a:latin typeface="Calibri" panose="020F0502020204030204" pitchFamily="34" charset="0"/>
                <a:ea typeface="Calibri" panose="020F0502020204030204" pitchFamily="34" charset="-122"/>
                <a:cs typeface="Calibri" panose="020F0502020204030204" pitchFamily="34" charset="-120"/>
              </a:rPr>
            </a:br>
            <a:r>
              <a:rPr lang="en-US" b="1" dirty="0">
                <a:solidFill>
                  <a:srgbClr val="8A3B24"/>
                </a:solidFill>
                <a:latin typeface="Calibri" panose="020F0502020204030204" pitchFamily="34" charset="0"/>
                <a:ea typeface="Calibri" panose="020F0502020204030204" pitchFamily="34" charset="-122"/>
                <a:cs typeface="Calibri" panose="020F0502020204030204" pitchFamily="34" charset="-120"/>
              </a:rPr>
              <a:t>(F1 = 0.851).</a:t>
            </a:r>
            <a:endParaRPr lang="en-US" b="1" dirty="0">
              <a:solidFill>
                <a:srgbClr val="8A3B24"/>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3291840"/>
            <a:ext cx="5394960" cy="2834640"/>
          </a:xfrm>
          <a:prstGeom prst="roundRect">
            <a:avLst>
              <a:gd name="adj" fmla="val 2581"/>
            </a:avLst>
          </a:prstGeom>
          <a:solidFill>
            <a:srgbClr val="FFFFFF"/>
          </a:solidFill>
          <a:ln w="12700">
            <a:solidFill>
              <a:srgbClr val="DCE7EA"/>
            </a:solidFill>
            <a:prstDash val="solid"/>
          </a:ln>
        </p:spPr>
      </p:sp>
      <p:sp>
        <p:nvSpPr>
          <p:cNvPr id="7" name="Text 5"/>
          <p:cNvSpPr txBox="1"/>
          <p:nvPr/>
        </p:nvSpPr>
        <p:spPr>
          <a:xfrm>
            <a:off x="822960" y="3520440"/>
            <a:ext cx="4846320" cy="457200"/>
          </a:xfrm>
          <a:prstGeom prst="rect">
            <a:avLst/>
          </a:prstGeom>
          <a:noFill/>
        </p:spPr>
        <p:txBody>
          <a:bodyPr wrap="square" rtlCol="0" anchor="ctr"/>
          <a:lstStyle/>
          <a:p>
            <a:pPr marL="0" indent="0">
              <a:buNone/>
            </a:pPr>
            <a:r>
              <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rPr>
              <a:t>Why Random Forest was still chosen</a:t>
            </a:r>
            <a:endPar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txBox="1"/>
          <p:nvPr/>
        </p:nvSpPr>
        <p:spPr>
          <a:xfrm>
            <a:off x="822960" y="4023360"/>
            <a:ext cx="4846320" cy="1920240"/>
          </a:xfrm>
          <a:prstGeom prst="rect">
            <a:avLst/>
          </a:prstGeom>
          <a:noFill/>
        </p:spPr>
        <p:txBody>
          <a:bodyPr wrap="square" rtlCol="0" anchor="t"/>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It had the strongest cross-validated Macro F1 (0.834 vs. 0.812 for Decision Tree) across 5 folds  - a more stable estimate than one 203-record test set.</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6217920" y="3291840"/>
            <a:ext cx="5394960" cy="2834640"/>
          </a:xfrm>
          <a:prstGeom prst="roundRect">
            <a:avLst>
              <a:gd name="adj" fmla="val 2581"/>
            </a:avLst>
          </a:prstGeom>
          <a:solidFill>
            <a:srgbClr val="FFFFFF"/>
          </a:solidFill>
          <a:ln w="12700">
            <a:solidFill>
              <a:srgbClr val="DCE7EA"/>
            </a:solidFill>
            <a:prstDash val="solid"/>
          </a:ln>
        </p:spPr>
      </p:sp>
      <p:sp>
        <p:nvSpPr>
          <p:cNvPr id="10" name="Text 8"/>
          <p:cNvSpPr txBox="1"/>
          <p:nvPr/>
        </p:nvSpPr>
        <p:spPr>
          <a:xfrm>
            <a:off x="6492240" y="3520440"/>
            <a:ext cx="4846320" cy="457200"/>
          </a:xfrm>
          <a:prstGeom prst="rect">
            <a:avLst/>
          </a:prstGeom>
          <a:noFill/>
        </p:spPr>
        <p:txBody>
          <a:bodyPr wrap="square" rtlCol="0" anchor="ctr"/>
          <a:lstStyle/>
          <a:p>
            <a:pPr marL="0" indent="0">
              <a:buNone/>
            </a:pPr>
            <a:r>
              <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rPr>
              <a:t>What Random Forest still won on</a:t>
            </a:r>
            <a:endPar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txBox="1"/>
          <p:nvPr/>
        </p:nvSpPr>
        <p:spPr>
          <a:xfrm>
            <a:off x="6492240" y="4023360"/>
            <a:ext cx="4846320" cy="1920240"/>
          </a:xfrm>
          <a:prstGeom prst="rect">
            <a:avLst/>
          </a:prstGeom>
          <a:noFill/>
        </p:spPr>
        <p:txBody>
          <a:bodyPr wrap="square" rtlCol="0" anchor="t"/>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Best ROC-AUC (0.953) and Average Precision (0.921) on the test set - stronger probability ranking even where point-prediction F1 was marginally lower.</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txBox="1"/>
          <p:nvPr/>
        </p:nvSpPr>
        <p:spPr>
          <a:xfrm>
            <a:off x="457200" y="6473952"/>
            <a:ext cx="7315200" cy="274320"/>
          </a:xfrm>
          <a:prstGeom prst="rect">
            <a:avLst/>
          </a:prstGeom>
          <a:noFill/>
        </p:spPr>
        <p:txBody>
          <a:bodyPr wrap="square" rtlCol="0" anchor="ctr"/>
          <a:lstStyle/>
          <a:p>
            <a:pPr marL="0" indent="0" algn="l">
              <a:buNone/>
            </a:pPr>
            <a:r>
              <a:rPr lang="en-US" sz="12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12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nvSpPr>
        <p:spPr>
          <a:xfrm>
            <a:off x="11277295" y="6473952"/>
            <a:ext cx="457200" cy="274320"/>
          </a:xfrm>
          <a:prstGeom prst="rect">
            <a:avLst/>
          </a:prstGeom>
          <a:noFill/>
        </p:spPr>
        <p:txBody>
          <a:bodyPr wrap="square" rtlCol="0" anchor="ctr"/>
          <a:lstStyle/>
          <a:p>
            <a:pPr marL="0" indent="0" algn="r">
              <a:buNone/>
            </a:pPr>
            <a:r>
              <a:rPr lang="en-US" sz="1200" dirty="0">
                <a:solidFill>
                  <a:srgbClr val="5B6B73"/>
                </a:solidFill>
                <a:latin typeface="Calibri" panose="020F0502020204030204" pitchFamily="34" charset="0"/>
                <a:ea typeface="Calibri" panose="020F0502020204030204" pitchFamily="34" charset="-122"/>
                <a:cs typeface="Calibri" panose="020F0502020204030204" pitchFamily="34" charset="-120"/>
              </a:rPr>
              <a:t>15</a:t>
            </a:r>
            <a:endParaRPr lang="en-US" sz="12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Generalization: Learning Curve (RQ5)</a:t>
            </a:r>
            <a:endParaRPr lang="en-US" sz="3000" dirty="0"/>
          </a:p>
        </p:txBody>
      </p:sp>
      <p:pic>
        <p:nvPicPr>
          <p:cNvPr id="4" name="Image 0" descr="/home/claude/ppt/docx_extracted/word/media/v2_learning_curve.png"/>
          <p:cNvPicPr>
            <a:picLocks noChangeAspect="1"/>
          </p:cNvPicPr>
          <p:nvPr/>
        </p:nvPicPr>
        <p:blipFill>
          <a:blip r:embed="rId1"/>
          <a:stretch>
            <a:fillRect/>
          </a:stretch>
        </p:blipFill>
        <p:spPr>
          <a:xfrm>
            <a:off x="457200" y="1554480"/>
            <a:ext cx="7406640" cy="4656455"/>
          </a:xfrm>
          <a:prstGeom prst="rect">
            <a:avLst/>
          </a:prstGeom>
        </p:spPr>
      </p:pic>
      <p:sp>
        <p:nvSpPr>
          <p:cNvPr id="5" name="Shape 2"/>
          <p:cNvSpPr/>
          <p:nvPr/>
        </p:nvSpPr>
        <p:spPr>
          <a:xfrm>
            <a:off x="8092440" y="1645920"/>
            <a:ext cx="3566160" cy="4572000"/>
          </a:xfrm>
          <a:prstGeom prst="roundRect">
            <a:avLst>
              <a:gd name="adj" fmla="val 2051"/>
            </a:avLst>
          </a:prstGeom>
          <a:solidFill>
            <a:srgbClr val="FFFFFF"/>
          </a:solidFill>
          <a:ln w="12700">
            <a:solidFill>
              <a:srgbClr val="DCE7EA"/>
            </a:solidFill>
            <a:prstDash val="solid"/>
          </a:ln>
        </p:spPr>
      </p:sp>
      <p:sp>
        <p:nvSpPr>
          <p:cNvPr id="6" name="Text 3"/>
          <p:cNvSpPr txBox="1"/>
          <p:nvPr/>
        </p:nvSpPr>
        <p:spPr>
          <a:xfrm>
            <a:off x="8321040" y="1874520"/>
            <a:ext cx="3108960" cy="4206240"/>
          </a:xfrm>
          <a:prstGeom prst="rect">
            <a:avLst/>
          </a:prstGeom>
          <a:noFill/>
        </p:spPr>
        <p:txBody>
          <a:bodyPr wrap="square" rtlCol="0" anchor="t"/>
          <a:lstStyle/>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CV Macro F1 (0.834) and holdout Macro F1 (0.851) are broadly consistent  no strong indication of severe overfitting.</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The validation curve is still rising as training size grows, while the training curve stays high and stable.</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This suggests more data could still improve performance further, especially given the duplicate-record limitation noted earlier.</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8" name="Text 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Selected Model: Random Forest</a:t>
            </a:r>
            <a:endParaRPr lang="en-US" sz="3000" dirty="0"/>
          </a:p>
        </p:txBody>
      </p:sp>
      <p:pic>
        <p:nvPicPr>
          <p:cNvPr id="4" name="Image 0" descr="/home/claude/ppt/docx_extracted/word/media/image7.png"/>
          <p:cNvPicPr>
            <a:picLocks noChangeAspect="1"/>
          </p:cNvPicPr>
          <p:nvPr/>
        </p:nvPicPr>
        <p:blipFill>
          <a:blip r:embed="rId1"/>
          <a:stretch>
            <a:fillRect/>
          </a:stretch>
        </p:blipFill>
        <p:spPr>
          <a:xfrm>
            <a:off x="457200" y="1735275"/>
            <a:ext cx="5394960" cy="4393290"/>
          </a:xfrm>
          <a:prstGeom prst="rect">
            <a:avLst/>
          </a:prstGeom>
        </p:spPr>
      </p:pic>
      <p:sp>
        <p:nvSpPr>
          <p:cNvPr id="5" name="Shape 2"/>
          <p:cNvSpPr/>
          <p:nvPr/>
        </p:nvSpPr>
        <p:spPr>
          <a:xfrm>
            <a:off x="6126480" y="1645920"/>
            <a:ext cx="2606040" cy="1234440"/>
          </a:xfrm>
          <a:prstGeom prst="roundRect">
            <a:avLst>
              <a:gd name="adj" fmla="val 5926"/>
            </a:avLst>
          </a:prstGeom>
          <a:solidFill>
            <a:srgbClr val="FFFFFF"/>
          </a:solidFill>
          <a:ln w="12700">
            <a:solidFill>
              <a:srgbClr val="DCE7EA"/>
            </a:solidFill>
            <a:prstDash val="solid"/>
          </a:ln>
        </p:spPr>
      </p:sp>
      <p:sp>
        <p:nvSpPr>
          <p:cNvPr id="6" name="Text 3"/>
          <p:cNvSpPr txBox="1"/>
          <p:nvPr/>
        </p:nvSpPr>
        <p:spPr>
          <a:xfrm>
            <a:off x="6126480" y="1755648"/>
            <a:ext cx="2606040" cy="73152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84.7%</a:t>
            </a:r>
            <a:endParaRPr lang="en-US" sz="3000" dirty="0"/>
          </a:p>
        </p:txBody>
      </p:sp>
      <p:sp>
        <p:nvSpPr>
          <p:cNvPr id="7" name="Text 4"/>
          <p:cNvSpPr txBox="1"/>
          <p:nvPr/>
        </p:nvSpPr>
        <p:spPr>
          <a:xfrm>
            <a:off x="6217920" y="2423160"/>
            <a:ext cx="2423160" cy="384048"/>
          </a:xfrm>
          <a:prstGeom prst="rect">
            <a:avLst/>
          </a:prstGeom>
          <a:noFill/>
        </p:spPr>
        <p:txBody>
          <a:bodyPr wrap="square" rtlCol="0" anchor="t"/>
          <a:lstStyle/>
          <a:p>
            <a:pPr marL="0" indent="0" algn="ctr">
              <a:buNone/>
            </a:pPr>
            <a:r>
              <a:rPr lang="en-US" sz="1150" dirty="0">
                <a:solidFill>
                  <a:srgbClr val="5B6B73"/>
                </a:solidFill>
                <a:latin typeface="Calibri" panose="020F0502020204030204" pitchFamily="34" charset="0"/>
                <a:ea typeface="Calibri" panose="020F0502020204030204" pitchFamily="34" charset="-122"/>
                <a:cs typeface="Calibri" panose="020F0502020204030204" pitchFamily="34" charset="-120"/>
              </a:rPr>
              <a:t>Test Accuracy</a:t>
            </a:r>
            <a:endParaRPr lang="en-US" sz="1150" dirty="0"/>
          </a:p>
        </p:txBody>
      </p:sp>
      <p:sp>
        <p:nvSpPr>
          <p:cNvPr id="8" name="Shape 5"/>
          <p:cNvSpPr/>
          <p:nvPr/>
        </p:nvSpPr>
        <p:spPr>
          <a:xfrm>
            <a:off x="8915400" y="1645920"/>
            <a:ext cx="2606040" cy="1234440"/>
          </a:xfrm>
          <a:prstGeom prst="roundRect">
            <a:avLst>
              <a:gd name="adj" fmla="val 5926"/>
            </a:avLst>
          </a:prstGeom>
          <a:solidFill>
            <a:srgbClr val="FFFFFF"/>
          </a:solidFill>
          <a:ln w="12700">
            <a:solidFill>
              <a:srgbClr val="DCE7EA"/>
            </a:solidFill>
            <a:prstDash val="solid"/>
          </a:ln>
        </p:spPr>
      </p:sp>
      <p:sp>
        <p:nvSpPr>
          <p:cNvPr id="9" name="Text 6"/>
          <p:cNvSpPr txBox="1"/>
          <p:nvPr/>
        </p:nvSpPr>
        <p:spPr>
          <a:xfrm>
            <a:off x="8915400" y="1755648"/>
            <a:ext cx="2606040" cy="731520"/>
          </a:xfrm>
          <a:prstGeom prst="rect">
            <a:avLst/>
          </a:prstGeom>
          <a:noFill/>
        </p:spPr>
        <p:txBody>
          <a:bodyPr wrap="square" rtlCol="0" anchor="ctr"/>
          <a:lstStyle/>
          <a:p>
            <a:pPr marL="0" indent="0" algn="ctr">
              <a:buNone/>
            </a:pPr>
            <a:r>
              <a:rPr lang="en-US" sz="3000" b="1" dirty="0">
                <a:solidFill>
                  <a:srgbClr val="E76F51"/>
                </a:solidFill>
                <a:latin typeface="Cambria" panose="02040503050406030204" pitchFamily="34" charset="0"/>
                <a:ea typeface="Cambria" panose="02040503050406030204" pitchFamily="34" charset="-122"/>
                <a:cs typeface="Cambria" panose="02040503050406030204" pitchFamily="34" charset="-120"/>
              </a:rPr>
              <a:t>85.1%</a:t>
            </a:r>
            <a:endParaRPr lang="en-US" sz="3000" dirty="0"/>
          </a:p>
        </p:txBody>
      </p:sp>
      <p:sp>
        <p:nvSpPr>
          <p:cNvPr id="10" name="Text 7"/>
          <p:cNvSpPr txBox="1"/>
          <p:nvPr/>
        </p:nvSpPr>
        <p:spPr>
          <a:xfrm>
            <a:off x="9006840" y="2423160"/>
            <a:ext cx="2423160" cy="384048"/>
          </a:xfrm>
          <a:prstGeom prst="rect">
            <a:avLst/>
          </a:prstGeom>
          <a:noFill/>
        </p:spPr>
        <p:txBody>
          <a:bodyPr wrap="square" rtlCol="0" anchor="t"/>
          <a:lstStyle/>
          <a:p>
            <a:pPr marL="0" indent="0" algn="ctr">
              <a:buNone/>
            </a:pPr>
            <a:r>
              <a:rPr lang="en-US" sz="1150" dirty="0">
                <a:solidFill>
                  <a:srgbClr val="5B6B73"/>
                </a:solidFill>
                <a:latin typeface="Calibri" panose="020F0502020204030204" pitchFamily="34" charset="0"/>
                <a:ea typeface="Calibri" panose="020F0502020204030204" pitchFamily="34" charset="-122"/>
                <a:cs typeface="Calibri" panose="020F0502020204030204" pitchFamily="34" charset="-120"/>
              </a:rPr>
              <a:t>Macro F1</a:t>
            </a:r>
            <a:endParaRPr lang="en-US" sz="1150" dirty="0"/>
          </a:p>
        </p:txBody>
      </p:sp>
      <p:sp>
        <p:nvSpPr>
          <p:cNvPr id="11" name="Shape 8"/>
          <p:cNvSpPr/>
          <p:nvPr/>
        </p:nvSpPr>
        <p:spPr>
          <a:xfrm>
            <a:off x="6126480" y="3063240"/>
            <a:ext cx="2606040" cy="1234440"/>
          </a:xfrm>
          <a:prstGeom prst="roundRect">
            <a:avLst>
              <a:gd name="adj" fmla="val 5926"/>
            </a:avLst>
          </a:prstGeom>
          <a:solidFill>
            <a:srgbClr val="FFFFFF"/>
          </a:solidFill>
          <a:ln w="12700">
            <a:solidFill>
              <a:srgbClr val="DCE7EA"/>
            </a:solidFill>
            <a:prstDash val="solid"/>
          </a:ln>
        </p:spPr>
      </p:sp>
      <p:sp>
        <p:nvSpPr>
          <p:cNvPr id="12" name="Text 9"/>
          <p:cNvSpPr txBox="1"/>
          <p:nvPr/>
        </p:nvSpPr>
        <p:spPr>
          <a:xfrm>
            <a:off x="6126480" y="3172968"/>
            <a:ext cx="2606040" cy="73152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95.3%</a:t>
            </a:r>
            <a:endParaRPr lang="en-US" sz="3000" dirty="0"/>
          </a:p>
        </p:txBody>
      </p:sp>
      <p:sp>
        <p:nvSpPr>
          <p:cNvPr id="13" name="Text 10"/>
          <p:cNvSpPr txBox="1"/>
          <p:nvPr/>
        </p:nvSpPr>
        <p:spPr>
          <a:xfrm>
            <a:off x="6217920" y="3840480"/>
            <a:ext cx="2423160" cy="384048"/>
          </a:xfrm>
          <a:prstGeom prst="rect">
            <a:avLst/>
          </a:prstGeom>
          <a:noFill/>
        </p:spPr>
        <p:txBody>
          <a:bodyPr wrap="square" rtlCol="0" anchor="t"/>
          <a:lstStyle/>
          <a:p>
            <a:pPr marL="0" indent="0" algn="ctr">
              <a:buNone/>
            </a:pPr>
            <a:r>
              <a:rPr lang="en-US" sz="1150" dirty="0">
                <a:solidFill>
                  <a:srgbClr val="5B6B73"/>
                </a:solidFill>
                <a:latin typeface="Calibri" panose="020F0502020204030204" pitchFamily="34" charset="0"/>
                <a:ea typeface="Calibri" panose="020F0502020204030204" pitchFamily="34" charset="-122"/>
                <a:cs typeface="Calibri" panose="020F0502020204030204" pitchFamily="34" charset="-120"/>
              </a:rPr>
              <a:t>ROC-AUC (macro)</a:t>
            </a:r>
            <a:endParaRPr lang="en-US" sz="1150" dirty="0"/>
          </a:p>
        </p:txBody>
      </p:sp>
      <p:sp>
        <p:nvSpPr>
          <p:cNvPr id="14" name="Shape 11"/>
          <p:cNvSpPr/>
          <p:nvPr/>
        </p:nvSpPr>
        <p:spPr>
          <a:xfrm>
            <a:off x="8915400" y="3063240"/>
            <a:ext cx="2606040" cy="1234440"/>
          </a:xfrm>
          <a:prstGeom prst="roundRect">
            <a:avLst>
              <a:gd name="adj" fmla="val 5926"/>
            </a:avLst>
          </a:prstGeom>
          <a:solidFill>
            <a:srgbClr val="FFFFFF"/>
          </a:solidFill>
          <a:ln w="12700">
            <a:solidFill>
              <a:srgbClr val="DCE7EA"/>
            </a:solidFill>
            <a:prstDash val="solid"/>
          </a:ln>
        </p:spPr>
      </p:sp>
      <p:sp>
        <p:nvSpPr>
          <p:cNvPr id="15" name="Text 12"/>
          <p:cNvSpPr txBox="1"/>
          <p:nvPr/>
        </p:nvSpPr>
        <p:spPr>
          <a:xfrm>
            <a:off x="8915400" y="3172968"/>
            <a:ext cx="2606040" cy="73152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92.1%</a:t>
            </a:r>
            <a:endParaRPr lang="en-US" sz="3000" dirty="0"/>
          </a:p>
        </p:txBody>
      </p:sp>
      <p:sp>
        <p:nvSpPr>
          <p:cNvPr id="16" name="Text 13"/>
          <p:cNvSpPr txBox="1"/>
          <p:nvPr/>
        </p:nvSpPr>
        <p:spPr>
          <a:xfrm>
            <a:off x="9006840" y="3840480"/>
            <a:ext cx="2423160" cy="384048"/>
          </a:xfrm>
          <a:prstGeom prst="rect">
            <a:avLst/>
          </a:prstGeom>
          <a:noFill/>
        </p:spPr>
        <p:txBody>
          <a:bodyPr wrap="square" rtlCol="0" anchor="t"/>
          <a:lstStyle/>
          <a:p>
            <a:pPr marL="0" indent="0" algn="ctr">
              <a:buNone/>
            </a:pPr>
            <a:r>
              <a:rPr lang="en-US" sz="1150" dirty="0">
                <a:solidFill>
                  <a:srgbClr val="5B6B73"/>
                </a:solidFill>
                <a:latin typeface="Calibri" panose="020F0502020204030204" pitchFamily="34" charset="0"/>
                <a:ea typeface="Calibri" panose="020F0502020204030204" pitchFamily="34" charset="-122"/>
                <a:cs typeface="Calibri" panose="020F0502020204030204" pitchFamily="34" charset="-120"/>
              </a:rPr>
              <a:t>Avg. Precision</a:t>
            </a:r>
            <a:endParaRPr lang="en-US" sz="1150" dirty="0"/>
          </a:p>
        </p:txBody>
      </p:sp>
      <p:graphicFrame>
        <p:nvGraphicFramePr>
          <p:cNvPr id="18" name="Table 0"/>
          <p:cNvGraphicFramePr>
            <a:graphicFrameLocks noGrp="1"/>
          </p:cNvGraphicFramePr>
          <p:nvPr/>
        </p:nvGraphicFramePr>
        <p:xfrm>
          <a:off x="6126480" y="4343400"/>
          <a:ext cx="5486400" cy="1737360"/>
        </p:xfrm>
        <a:graphic>
          <a:graphicData uri="http://schemas.openxmlformats.org/drawingml/2006/table">
            <a:tbl>
              <a:tblPr/>
              <a:tblGrid>
                <a:gridCol w="1463040"/>
                <a:gridCol w="1005840"/>
                <a:gridCol w="1005840"/>
                <a:gridCol w="1005840"/>
                <a:gridCol w="1005840"/>
              </a:tblGrid>
              <a:tr h="43434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3E7C8C"/>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Precision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3E7C8C"/>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3E7C8C"/>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3E7C8C"/>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Support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3E7C8C"/>
                    </a:solidFill>
                  </a:tcPr>
                </a:tc>
              </a:tr>
              <a:tr h="434340">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Low risk</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0.86</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0.81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0.84</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81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r h="434340">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Mid risk</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0.80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0.79</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0.80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67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434340">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High risk</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0.88</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0.96</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0.92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150" dirty="0">
                          <a:solidFill>
                            <a:srgbClr val="1B2B34"/>
                          </a:solidFill>
                          <a:latin typeface="Calibri" panose="020F0502020204030204" pitchFamily="34" charset="0"/>
                          <a:ea typeface="Calibri" panose="020F0502020204030204" pitchFamily="34" charset="-122"/>
                          <a:cs typeface="Calibri" panose="020F0502020204030204" pitchFamily="34" charset="-120"/>
                        </a:rPr>
                        <a:t>55</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bl>
          </a:graphicData>
        </a:graphic>
      </p:graphicFrame>
      <p:sp>
        <p:nvSpPr>
          <p:cNvPr id="17" name="Text 1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9" name="Text 1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Error Analysis — Where Does the Model Fail?</a:t>
            </a:r>
            <a:endParaRPr lang="en-US" sz="3000" dirty="0"/>
          </a:p>
        </p:txBody>
      </p:sp>
      <p:sp>
        <p:nvSpPr>
          <p:cNvPr id="4" name="Shape 2"/>
          <p:cNvSpPr/>
          <p:nvPr/>
        </p:nvSpPr>
        <p:spPr>
          <a:xfrm>
            <a:off x="548640" y="1645920"/>
            <a:ext cx="2606040" cy="1188720"/>
          </a:xfrm>
          <a:prstGeom prst="roundRect">
            <a:avLst>
              <a:gd name="adj" fmla="val 6154"/>
            </a:avLst>
          </a:prstGeom>
          <a:solidFill>
            <a:srgbClr val="FFFFFF"/>
          </a:solidFill>
          <a:ln w="12700">
            <a:solidFill>
              <a:srgbClr val="DCE7EA"/>
            </a:solidFill>
            <a:prstDash val="solid"/>
          </a:ln>
        </p:spPr>
      </p:sp>
      <p:sp>
        <p:nvSpPr>
          <p:cNvPr id="5" name="Text 3"/>
          <p:cNvSpPr txBox="1"/>
          <p:nvPr/>
        </p:nvSpPr>
        <p:spPr>
          <a:xfrm>
            <a:off x="548640" y="1755648"/>
            <a:ext cx="2606040" cy="68580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172 / 203</a:t>
            </a:r>
            <a:endParaRPr lang="en-US" sz="3000" dirty="0"/>
          </a:p>
        </p:txBody>
      </p:sp>
      <p:sp>
        <p:nvSpPr>
          <p:cNvPr id="6" name="Text 4"/>
          <p:cNvSpPr txBox="1"/>
          <p:nvPr/>
        </p:nvSpPr>
        <p:spPr>
          <a:xfrm>
            <a:off x="640080" y="2377440"/>
            <a:ext cx="2423160" cy="384048"/>
          </a:xfrm>
          <a:prstGeom prst="rect">
            <a:avLst/>
          </a:prstGeom>
          <a:noFill/>
        </p:spPr>
        <p:txBody>
          <a:bodyPr wrap="square" rtlCol="0" anchor="t"/>
          <a:lstStyle/>
          <a:p>
            <a:pPr marL="0" indent="0" algn="ctr">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Correct predictions (84.7%)</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3337560" y="1645920"/>
            <a:ext cx="2606040" cy="1188720"/>
          </a:xfrm>
          <a:prstGeom prst="roundRect">
            <a:avLst>
              <a:gd name="adj" fmla="val 6154"/>
            </a:avLst>
          </a:prstGeom>
          <a:solidFill>
            <a:srgbClr val="FFFFFF"/>
          </a:solidFill>
          <a:ln w="12700">
            <a:solidFill>
              <a:srgbClr val="DCE7EA"/>
            </a:solidFill>
            <a:prstDash val="solid"/>
          </a:ln>
        </p:spPr>
      </p:sp>
      <p:sp>
        <p:nvSpPr>
          <p:cNvPr id="8" name="Text 6"/>
          <p:cNvSpPr txBox="1"/>
          <p:nvPr/>
        </p:nvSpPr>
        <p:spPr>
          <a:xfrm>
            <a:off x="3337560" y="1755648"/>
            <a:ext cx="2606040" cy="68580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31 / 203</a:t>
            </a:r>
            <a:endParaRPr lang="en-US" sz="3000" dirty="0"/>
          </a:p>
        </p:txBody>
      </p:sp>
      <p:sp>
        <p:nvSpPr>
          <p:cNvPr id="9" name="Text 7"/>
          <p:cNvSpPr txBox="1"/>
          <p:nvPr/>
        </p:nvSpPr>
        <p:spPr>
          <a:xfrm>
            <a:off x="3429000" y="2377440"/>
            <a:ext cx="2423160" cy="384048"/>
          </a:xfrm>
          <a:prstGeom prst="rect">
            <a:avLst/>
          </a:prstGeom>
          <a:noFill/>
        </p:spPr>
        <p:txBody>
          <a:bodyPr wrap="square" rtlCol="0" anchor="t"/>
          <a:lstStyle/>
          <a:p>
            <a:pPr marL="0" indent="0" algn="ctr">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Incorrect predictions (15.3%)</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6126480" y="1645920"/>
            <a:ext cx="2606040" cy="1188720"/>
          </a:xfrm>
          <a:prstGeom prst="roundRect">
            <a:avLst>
              <a:gd name="adj" fmla="val 6154"/>
            </a:avLst>
          </a:prstGeom>
          <a:solidFill>
            <a:srgbClr val="FFFFFF"/>
          </a:solidFill>
          <a:ln w="12700">
            <a:solidFill>
              <a:srgbClr val="DCE7EA"/>
            </a:solidFill>
            <a:prstDash val="solid"/>
          </a:ln>
        </p:spPr>
      </p:sp>
      <p:sp>
        <p:nvSpPr>
          <p:cNvPr id="11" name="Text 9"/>
          <p:cNvSpPr txBox="1"/>
          <p:nvPr/>
        </p:nvSpPr>
        <p:spPr>
          <a:xfrm>
            <a:off x="6126480" y="1755648"/>
            <a:ext cx="2606040" cy="685800"/>
          </a:xfrm>
          <a:prstGeom prst="rect">
            <a:avLst/>
          </a:prstGeom>
          <a:noFill/>
        </p:spPr>
        <p:txBody>
          <a:bodyPr wrap="square" rtlCol="0" anchor="ctr"/>
          <a:lstStyle/>
          <a:p>
            <a:pPr marL="0" indent="0" algn="ctr">
              <a:buNone/>
            </a:pPr>
            <a:r>
              <a:rPr lang="en-US" sz="3000" b="1" dirty="0">
                <a:solidFill>
                  <a:srgbClr val="0B3D57"/>
                </a:solidFill>
                <a:latin typeface="Cambria" panose="02040503050406030204" pitchFamily="34" charset="0"/>
                <a:ea typeface="Cambria" panose="02040503050406030204" pitchFamily="34" charset="-122"/>
                <a:cs typeface="Cambria" panose="02040503050406030204" pitchFamily="34" charset="-120"/>
              </a:rPr>
              <a:t>85.7%</a:t>
            </a:r>
            <a:endParaRPr lang="en-US" sz="3000" dirty="0"/>
          </a:p>
        </p:txBody>
      </p:sp>
      <p:sp>
        <p:nvSpPr>
          <p:cNvPr id="12" name="Text 10"/>
          <p:cNvSpPr txBox="1"/>
          <p:nvPr/>
        </p:nvSpPr>
        <p:spPr>
          <a:xfrm>
            <a:off x="6217920" y="2377440"/>
            <a:ext cx="2423160" cy="384048"/>
          </a:xfrm>
          <a:prstGeom prst="rect">
            <a:avLst/>
          </a:prstGeom>
          <a:noFill/>
        </p:spPr>
        <p:txBody>
          <a:bodyPr wrap="square" rtlCol="0" anchor="t"/>
          <a:lstStyle/>
          <a:p>
            <a:pPr marL="0" indent="0" algn="ctr">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Balanced Accuracy</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8915400" y="1645920"/>
            <a:ext cx="2606040" cy="1188720"/>
          </a:xfrm>
          <a:prstGeom prst="roundRect">
            <a:avLst>
              <a:gd name="adj" fmla="val 6154"/>
            </a:avLst>
          </a:prstGeom>
          <a:solidFill>
            <a:srgbClr val="FFFFFF"/>
          </a:solidFill>
          <a:ln w="12700">
            <a:solidFill>
              <a:srgbClr val="DCE7EA"/>
            </a:solidFill>
            <a:prstDash val="solid"/>
          </a:ln>
        </p:spPr>
      </p:sp>
      <p:sp>
        <p:nvSpPr>
          <p:cNvPr id="14" name="Text 12"/>
          <p:cNvSpPr txBox="1"/>
          <p:nvPr/>
        </p:nvSpPr>
        <p:spPr>
          <a:xfrm>
            <a:off x="8915400" y="1755648"/>
            <a:ext cx="2606040" cy="685800"/>
          </a:xfrm>
          <a:prstGeom prst="rect">
            <a:avLst/>
          </a:prstGeom>
          <a:noFill/>
        </p:spPr>
        <p:txBody>
          <a:bodyPr wrap="square" rtlCol="0" anchor="ctr"/>
          <a:lstStyle/>
          <a:p>
            <a:pPr marL="0" indent="0" algn="ctr">
              <a:buNone/>
            </a:pPr>
            <a:r>
              <a:rPr lang="en-US" sz="3000" b="1" dirty="0">
                <a:solidFill>
                  <a:srgbClr val="E76F51"/>
                </a:solidFill>
                <a:latin typeface="Cambria" panose="02040503050406030204" pitchFamily="34" charset="0"/>
                <a:ea typeface="Cambria" panose="02040503050406030204" pitchFamily="34" charset="-122"/>
                <a:cs typeface="Cambria" panose="02040503050406030204" pitchFamily="34" charset="-120"/>
              </a:rPr>
              <a:t>71%</a:t>
            </a:r>
            <a:endParaRPr lang="en-US" sz="3000" dirty="0"/>
          </a:p>
        </p:txBody>
      </p:sp>
      <p:sp>
        <p:nvSpPr>
          <p:cNvPr id="15" name="Text 13"/>
          <p:cNvSpPr txBox="1"/>
          <p:nvPr/>
        </p:nvSpPr>
        <p:spPr>
          <a:xfrm>
            <a:off x="9006840" y="2377440"/>
            <a:ext cx="2423160" cy="384048"/>
          </a:xfrm>
          <a:prstGeom prst="rect">
            <a:avLst/>
          </a:prstGeom>
          <a:noFill/>
        </p:spPr>
        <p:txBody>
          <a:bodyPr wrap="square" rtlCol="0" anchor="t"/>
          <a:lstStyle/>
          <a:p>
            <a:pPr marL="0" indent="0" algn="ctr">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Of errors are Low ↔ Mid</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48640" y="3063240"/>
            <a:ext cx="5486400" cy="3108960"/>
          </a:xfrm>
          <a:prstGeom prst="roundRect">
            <a:avLst>
              <a:gd name="adj" fmla="val 2353"/>
            </a:avLst>
          </a:prstGeom>
          <a:solidFill>
            <a:srgbClr val="FFF1EC"/>
          </a:solidFill>
          <a:ln w="12700">
            <a:solidFill>
              <a:srgbClr val="E76F51"/>
            </a:solidFill>
            <a:prstDash val="solid"/>
          </a:ln>
        </p:spPr>
      </p:sp>
      <p:sp>
        <p:nvSpPr>
          <p:cNvPr id="17" name="Text 15"/>
          <p:cNvSpPr txBox="1"/>
          <p:nvPr/>
        </p:nvSpPr>
        <p:spPr>
          <a:xfrm>
            <a:off x="777240" y="3246120"/>
            <a:ext cx="5029200" cy="1097280"/>
          </a:xfrm>
          <a:prstGeom prst="rect">
            <a:avLst/>
          </a:prstGeom>
          <a:noFill/>
        </p:spPr>
        <p:txBody>
          <a:bodyPr wrap="square" rtlCol="0" anchor="t"/>
          <a:lstStyle/>
          <a:p>
            <a:pPr marL="0" indent="0">
              <a:buNone/>
            </a:pPr>
            <a:r>
              <a:rPr lang="en-US" sz="1600" b="1" dirty="0">
                <a:solidFill>
                  <a:srgbClr val="8A3B24"/>
                </a:solidFill>
                <a:latin typeface="Calibri" panose="020F0502020204030204" pitchFamily="34" charset="0"/>
                <a:ea typeface="Calibri" panose="020F0502020204030204" pitchFamily="34" charset="-122"/>
                <a:cs typeface="Calibri" panose="020F0502020204030204" pitchFamily="34" charset="-120"/>
              </a:rPr>
              <a:t>22 of the 31 total errors (71%) are confusions between low risk and mid risk — the model's dominant weakness is that boundary, not a failure to catch high-risk cases.</a:t>
            </a:r>
            <a:endParaRPr lang="en-US" sz="1600" b="1" dirty="0">
              <a:solidFill>
                <a:srgbClr val="8A3B24"/>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Text 16"/>
          <p:cNvSpPr txBox="1"/>
          <p:nvPr/>
        </p:nvSpPr>
        <p:spPr>
          <a:xfrm>
            <a:off x="777240" y="4343400"/>
            <a:ext cx="5029200" cy="1737360"/>
          </a:xfrm>
          <a:prstGeom prst="rect">
            <a:avLst/>
          </a:prstGeom>
          <a:noFill/>
        </p:spPr>
        <p:txBody>
          <a:bodyPr wrap="square" rtlCol="0" anchor="t"/>
          <a:lstStyle/>
          <a:p>
            <a:pPr marL="228600" indent="-228600">
              <a:spcAft>
                <a:spcPts val="8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Low risk: 66 correct, 13 -&gt; mid, 2 -&gt; high</a:t>
            </a:r>
            <a:endParaRPr lang="en-US" sz="1600" dirty="0"/>
          </a:p>
          <a:p>
            <a:pPr marL="228600" indent="-228600">
              <a:spcAft>
                <a:spcPts val="8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Mid risk: 53 correct, 9 -&gt; low, 5 -&gt; high</a:t>
            </a:r>
            <a:endParaRPr lang="en-US" sz="1600" dirty="0"/>
          </a:p>
          <a:p>
            <a:pPr marL="228600" indent="-228600">
              <a:spcAft>
                <a:spcPts val="8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High risk: 53 correct, 2 -&gt; low, 0 -&gt; mid</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6309360" y="3063240"/>
            <a:ext cx="5349240" cy="3108960"/>
          </a:xfrm>
          <a:prstGeom prst="roundRect">
            <a:avLst>
              <a:gd name="adj" fmla="val 2353"/>
            </a:avLst>
          </a:prstGeom>
          <a:solidFill>
            <a:srgbClr val="FFFFFF"/>
          </a:solidFill>
          <a:ln w="12700">
            <a:solidFill>
              <a:srgbClr val="DCE7EA"/>
            </a:solidFill>
            <a:prstDash val="solid"/>
          </a:ln>
        </p:spPr>
      </p:sp>
      <p:sp>
        <p:nvSpPr>
          <p:cNvPr id="20" name="Text 18"/>
          <p:cNvSpPr txBox="1"/>
          <p:nvPr/>
        </p:nvSpPr>
        <p:spPr>
          <a:xfrm>
            <a:off x="6537960" y="3246120"/>
            <a:ext cx="4846320" cy="365760"/>
          </a:xfrm>
          <a:prstGeom prst="rect">
            <a:avLst/>
          </a:prstGeom>
          <a:noFill/>
        </p:spPr>
        <p:txBody>
          <a:bodyPr wrap="square" rtlCol="0" anchor="ctr"/>
          <a:lstStyle/>
          <a:p>
            <a:pPr marL="0" indent="0">
              <a:buNone/>
            </a:pPr>
            <a:r>
              <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rPr>
              <a:t>Per-Class Recall</a:t>
            </a:r>
            <a:endPar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txBox="1"/>
          <p:nvPr/>
        </p:nvSpPr>
        <p:spPr>
          <a:xfrm>
            <a:off x="6537960" y="3703320"/>
            <a:ext cx="2743200" cy="548640"/>
          </a:xfrm>
          <a:prstGeom prst="rect">
            <a:avLst/>
          </a:prstGeom>
          <a:noFill/>
        </p:spPr>
        <p:txBody>
          <a:bodyPr wrap="square" rtlCol="0" anchor="ctr"/>
          <a:lstStyle/>
          <a:p>
            <a:pPr marL="0" indent="0">
              <a:buNone/>
            </a:pPr>
            <a:r>
              <a:rPr lang="en-US" dirty="0">
                <a:solidFill>
                  <a:srgbClr val="1B2B34"/>
                </a:solidFill>
                <a:latin typeface="Calibri" panose="020F0502020204030204" pitchFamily="34" charset="0"/>
                <a:ea typeface="Calibri" panose="020F0502020204030204" pitchFamily="34" charset="-122"/>
                <a:cs typeface="Calibri" panose="020F0502020204030204" pitchFamily="34" charset="-120"/>
              </a:rPr>
              <a:t>Low risk</a:t>
            </a:r>
            <a:endParaRPr lang="en-US"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txBox="1"/>
          <p:nvPr/>
        </p:nvSpPr>
        <p:spPr>
          <a:xfrm>
            <a:off x="9326880" y="3703320"/>
            <a:ext cx="2103120" cy="548640"/>
          </a:xfrm>
          <a:prstGeom prst="rect">
            <a:avLst/>
          </a:prstGeom>
          <a:noFill/>
        </p:spPr>
        <p:txBody>
          <a:bodyPr wrap="square" rtlCol="0" anchor="ctr"/>
          <a:lstStyle/>
          <a:p>
            <a:pPr marL="0" indent="0" algn="r">
              <a:buNone/>
            </a:pPr>
            <a:r>
              <a:rPr lang="en-US" sz="1800" b="1" dirty="0">
                <a:solidFill>
                  <a:srgbClr val="0B3D57"/>
                </a:solidFill>
                <a:latin typeface="Cambria" panose="02040503050406030204" pitchFamily="34" charset="0"/>
                <a:ea typeface="Cambria" panose="02040503050406030204" pitchFamily="34" charset="-122"/>
                <a:cs typeface="Cambria" panose="02040503050406030204" pitchFamily="34" charset="-120"/>
              </a:rPr>
              <a:t>81.5%</a:t>
            </a:r>
            <a:endParaRPr lang="en-US" sz="1800" dirty="0"/>
          </a:p>
        </p:txBody>
      </p:sp>
      <p:sp>
        <p:nvSpPr>
          <p:cNvPr id="23" name="Text 21"/>
          <p:cNvSpPr txBox="1"/>
          <p:nvPr/>
        </p:nvSpPr>
        <p:spPr>
          <a:xfrm>
            <a:off x="6537960" y="4389120"/>
            <a:ext cx="2743200" cy="548640"/>
          </a:xfrm>
          <a:prstGeom prst="rect">
            <a:avLst/>
          </a:prstGeom>
          <a:noFill/>
        </p:spPr>
        <p:txBody>
          <a:bodyPr wrap="square" rtlCol="0" anchor="ctr"/>
          <a:lstStyle/>
          <a:p>
            <a:pPr marL="0" indent="0">
              <a:buNone/>
            </a:pPr>
            <a:r>
              <a:rPr lang="en-US" dirty="0">
                <a:solidFill>
                  <a:srgbClr val="1B2B34"/>
                </a:solidFill>
                <a:latin typeface="Calibri" panose="020F0502020204030204" pitchFamily="34" charset="0"/>
                <a:ea typeface="Calibri" panose="020F0502020204030204" pitchFamily="34" charset="-122"/>
                <a:cs typeface="Calibri" panose="020F0502020204030204" pitchFamily="34" charset="-120"/>
              </a:rPr>
              <a:t>Mid risk</a:t>
            </a:r>
            <a:endParaRPr lang="en-US"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txBox="1"/>
          <p:nvPr/>
        </p:nvSpPr>
        <p:spPr>
          <a:xfrm>
            <a:off x="9326880" y="4389120"/>
            <a:ext cx="2103120" cy="548640"/>
          </a:xfrm>
          <a:prstGeom prst="rect">
            <a:avLst/>
          </a:prstGeom>
          <a:noFill/>
        </p:spPr>
        <p:txBody>
          <a:bodyPr wrap="square" rtlCol="0" anchor="ctr"/>
          <a:lstStyle/>
          <a:p>
            <a:pPr marL="0" indent="0" algn="r">
              <a:buNone/>
            </a:pPr>
            <a:r>
              <a:rPr lang="en-US" sz="1800" b="1" dirty="0">
                <a:solidFill>
                  <a:srgbClr val="0B3D57"/>
                </a:solidFill>
                <a:latin typeface="Cambria" panose="02040503050406030204" pitchFamily="34" charset="0"/>
                <a:ea typeface="Cambria" panose="02040503050406030204" pitchFamily="34" charset="-122"/>
                <a:cs typeface="Cambria" panose="02040503050406030204" pitchFamily="34" charset="-120"/>
              </a:rPr>
              <a:t>79.1%</a:t>
            </a:r>
            <a:endParaRPr lang="en-US" sz="1800" dirty="0"/>
          </a:p>
        </p:txBody>
      </p:sp>
      <p:sp>
        <p:nvSpPr>
          <p:cNvPr id="25" name="Text 23"/>
          <p:cNvSpPr txBox="1"/>
          <p:nvPr/>
        </p:nvSpPr>
        <p:spPr>
          <a:xfrm>
            <a:off x="6537960" y="5074920"/>
            <a:ext cx="2743200" cy="548640"/>
          </a:xfrm>
          <a:prstGeom prst="rect">
            <a:avLst/>
          </a:prstGeom>
          <a:noFill/>
        </p:spPr>
        <p:txBody>
          <a:bodyPr wrap="square" rtlCol="0" anchor="ctr"/>
          <a:lstStyle/>
          <a:p>
            <a:pPr marL="0" indent="0">
              <a:buNone/>
            </a:pPr>
            <a:r>
              <a:rPr lang="en-US" dirty="0">
                <a:solidFill>
                  <a:srgbClr val="1B2B34"/>
                </a:solidFill>
                <a:latin typeface="Calibri" panose="020F0502020204030204" pitchFamily="34" charset="0"/>
                <a:ea typeface="Calibri" panose="020F0502020204030204" pitchFamily="34" charset="-122"/>
                <a:cs typeface="Calibri" panose="020F0502020204030204" pitchFamily="34" charset="-120"/>
              </a:rPr>
              <a:t>High risk</a:t>
            </a:r>
            <a:endParaRPr lang="en-US"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txBox="1"/>
          <p:nvPr/>
        </p:nvSpPr>
        <p:spPr>
          <a:xfrm>
            <a:off x="9326880" y="5074920"/>
            <a:ext cx="2103120" cy="548640"/>
          </a:xfrm>
          <a:prstGeom prst="rect">
            <a:avLst/>
          </a:prstGeom>
          <a:noFill/>
        </p:spPr>
        <p:txBody>
          <a:bodyPr wrap="square" rtlCol="0" anchor="ctr"/>
          <a:lstStyle/>
          <a:p>
            <a:pPr marL="0" indent="0" algn="r">
              <a:buNone/>
            </a:pPr>
            <a:r>
              <a:rPr lang="en-US" sz="1800" b="1" dirty="0">
                <a:solidFill>
                  <a:srgbClr val="1B5E4F"/>
                </a:solidFill>
                <a:latin typeface="Cambria" panose="02040503050406030204" pitchFamily="34" charset="0"/>
                <a:ea typeface="Cambria" panose="02040503050406030204" pitchFamily="34" charset="-122"/>
                <a:cs typeface="Cambria" panose="02040503050406030204" pitchFamily="34" charset="-120"/>
              </a:rPr>
              <a:t>96.4%</a:t>
            </a:r>
            <a:endParaRPr lang="en-US" sz="1800" dirty="0"/>
          </a:p>
        </p:txBody>
      </p:sp>
      <p:sp>
        <p:nvSpPr>
          <p:cNvPr id="27" name="Text 25"/>
          <p:cNvSpPr txBox="1"/>
          <p:nvPr/>
        </p:nvSpPr>
        <p:spPr>
          <a:xfrm>
            <a:off x="6537960" y="5760720"/>
            <a:ext cx="4846320" cy="365760"/>
          </a:xfrm>
          <a:prstGeom prst="rect">
            <a:avLst/>
          </a:prstGeom>
          <a:noFill/>
        </p:spPr>
        <p:txBody>
          <a:bodyPr wrap="square" rtlCol="0" anchor="ctr"/>
          <a:lstStyle/>
          <a:p>
            <a:pPr marL="0" indent="0">
              <a:buNone/>
            </a:pPr>
            <a:r>
              <a:rPr lang="en-US" sz="1400" i="1" dirty="0">
                <a:solidFill>
                  <a:srgbClr val="5B6B73"/>
                </a:solidFill>
                <a:latin typeface="Calibri" panose="020F0502020204030204" pitchFamily="34" charset="0"/>
                <a:ea typeface="Calibri" panose="020F0502020204030204" pitchFamily="34" charset="-122"/>
                <a:cs typeface="Calibri" panose="020F0502020204030204" pitchFamily="34" charset="-120"/>
              </a:rPr>
              <a:t>High-risk cases are identified reliably; low-vs-mid separation is the clear improvement target.</a:t>
            </a:r>
            <a:endParaRPr lang="en-US" sz="1400" i="1"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29" name="Text 27"/>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05 · RESULTS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Per-Class Performance &amp; Class Imbalance (RQ3)</a:t>
            </a:r>
            <a:endParaRPr lang="en-US" sz="3000" dirty="0"/>
          </a:p>
        </p:txBody>
      </p:sp>
      <p:graphicFrame>
        <p:nvGraphicFramePr>
          <p:cNvPr id="20" name="Table 0"/>
          <p:cNvGraphicFramePr>
            <a:graphicFrameLocks noGrp="1"/>
          </p:cNvGraphicFramePr>
          <p:nvPr/>
        </p:nvGraphicFramePr>
        <p:xfrm>
          <a:off x="548640" y="1691640"/>
          <a:ext cx="7315200" cy="4023360"/>
        </p:xfrm>
        <a:graphic>
          <a:graphicData uri="http://schemas.openxmlformats.org/drawingml/2006/table">
            <a:tbl>
              <a:tblPr/>
              <a:tblGrid>
                <a:gridCol w="2926080"/>
                <a:gridCol w="1463040"/>
                <a:gridCol w="1468120"/>
                <a:gridCol w="1457960"/>
              </a:tblGrid>
              <a:tr h="502920">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Low-Risk Recall</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Mid-Risk Recall</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High-Risk Recall</a:t>
                      </a:r>
                      <a:endPar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0B3D57"/>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Decision Tree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0.81</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0.81</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0.96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r h="502920">
                <a:tc>
                  <a:txBody>
                    <a:bodyPr/>
                    <a:lstStyle/>
                    <a:p>
                      <a:pPr marL="0" indent="0" algn="l">
                        <a:buNone/>
                      </a:pPr>
                      <a:r>
                        <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rPr>
                        <a:t>Random Forest (selected)</a:t>
                      </a:r>
                      <a:endParaRPr lang="en-US" sz="1600" b="1"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0.81</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0.79</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0.96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KNN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0.81</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0.79</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0.96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Gradient Boosting</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0.79</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0.75</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0.96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SVM</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0.81</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0.58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0.93</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MLP Neural Network</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0.86</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0.31</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0.84</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FFFFF"/>
                    </a:solidFill>
                  </a:tcPr>
                </a:tc>
              </a:tr>
              <a:tr h="502920">
                <a:tc>
                  <a:txBody>
                    <a:bodyPr/>
                    <a:lstStyle/>
                    <a:p>
                      <a:pPr marL="0" indent="0" algn="l">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0.80</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0.37</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c>
                  <a:txBody>
                    <a:bodyPr/>
                    <a:lstStyle/>
                    <a:p>
                      <a:pPr marL="0" indent="0" algn="ctr">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0.78</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a:txBody>
                  <a:tcPr anchor="ctr">
                    <a:lnL w="12700" cap="flat" cmpd="sng" algn="ctr">
                      <a:solidFill>
                        <a:srgbClr val="DCE7EA"/>
                      </a:solidFill>
                      <a:prstDash val="solid"/>
                      <a:round/>
                      <a:headEnd type="none" w="med" len="med"/>
                      <a:tailEnd type="none" w="med" len="med"/>
                    </a:lnL>
                    <a:lnR w="12700" cap="flat" cmpd="sng" algn="ctr">
                      <a:solidFill>
                        <a:srgbClr val="DCE7EA"/>
                      </a:solidFill>
                      <a:prstDash val="solid"/>
                      <a:round/>
                      <a:headEnd type="none" w="med" len="med"/>
                      <a:tailEnd type="none" w="med" len="med"/>
                    </a:lnR>
                    <a:lnT w="12700" cap="flat" cmpd="sng" algn="ctr">
                      <a:solidFill>
                        <a:srgbClr val="DCE7EA"/>
                      </a:solidFill>
                      <a:prstDash val="solid"/>
                      <a:round/>
                      <a:headEnd type="none" w="med" len="med"/>
                      <a:tailEnd type="none" w="med" len="med"/>
                    </a:lnT>
                    <a:lnB w="12700" cap="flat" cmpd="sng" algn="ctr">
                      <a:solidFill>
                        <a:srgbClr val="DCE7EA"/>
                      </a:solidFill>
                      <a:prstDash val="solid"/>
                      <a:round/>
                      <a:headEnd type="none" w="med" len="med"/>
                      <a:tailEnd type="none" w="med" len="med"/>
                    </a:lnB>
                    <a:solidFill>
                      <a:srgbClr val="F5F9FA"/>
                    </a:solidFill>
                  </a:tcPr>
                </a:tc>
              </a:tr>
            </a:tbl>
          </a:graphicData>
        </a:graphic>
      </p:graphicFrame>
      <p:sp>
        <p:nvSpPr>
          <p:cNvPr id="5" name="Shape 2"/>
          <p:cNvSpPr/>
          <p:nvPr/>
        </p:nvSpPr>
        <p:spPr>
          <a:xfrm>
            <a:off x="8138160" y="1691640"/>
            <a:ext cx="3520440" cy="4023360"/>
          </a:xfrm>
          <a:prstGeom prst="roundRect">
            <a:avLst>
              <a:gd name="adj" fmla="val 2078"/>
            </a:avLst>
          </a:prstGeom>
          <a:solidFill>
            <a:srgbClr val="FFFFFF"/>
          </a:solidFill>
          <a:ln w="12700">
            <a:solidFill>
              <a:srgbClr val="DCE7EA"/>
            </a:solidFill>
            <a:prstDash val="solid"/>
          </a:ln>
        </p:spPr>
      </p:sp>
      <p:sp>
        <p:nvSpPr>
          <p:cNvPr id="6" name="Text 3"/>
          <p:cNvSpPr txBox="1"/>
          <p:nvPr/>
        </p:nvSpPr>
        <p:spPr>
          <a:xfrm>
            <a:off x="8366760" y="1920240"/>
            <a:ext cx="3108960" cy="3657600"/>
          </a:xfrm>
          <a:prstGeom prst="rect">
            <a:avLst/>
          </a:prstGeom>
          <a:noFill/>
        </p:spPr>
        <p:txBody>
          <a:bodyPr wrap="square" rtlCol="0" anchor="t"/>
          <a:lstStyle/>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Mid-risk recall is consistently the weakest across nearly every model.</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Tree-based models nearly double linear/neural mid-risk recall (79-81% vs. 31-37%).</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High-risk recall stays strong (78-96%) for all models — the most severe class is the easiest to separate.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8" name="Text 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06 · INTERPRETATION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Feature Importance (RQ4)</a:t>
            </a:r>
            <a:endParaRPr lang="en-US" sz="3000" dirty="0"/>
          </a:p>
        </p:txBody>
      </p:sp>
      <p:pic>
        <p:nvPicPr>
          <p:cNvPr id="4" name="Image 0" descr="/home/claude/ppt/docx_extracted/word/media/image11.png"/>
          <p:cNvPicPr>
            <a:picLocks noChangeAspect="1"/>
          </p:cNvPicPr>
          <p:nvPr/>
        </p:nvPicPr>
        <p:blipFill>
          <a:blip r:embed="rId1"/>
          <a:stretch>
            <a:fillRect/>
          </a:stretch>
        </p:blipFill>
        <p:spPr>
          <a:xfrm>
            <a:off x="457200" y="1759088"/>
            <a:ext cx="6583680" cy="4345663"/>
          </a:xfrm>
          <a:prstGeom prst="rect">
            <a:avLst/>
          </a:prstGeom>
        </p:spPr>
      </p:pic>
      <p:sp>
        <p:nvSpPr>
          <p:cNvPr id="5" name="Shape 2"/>
          <p:cNvSpPr/>
          <p:nvPr/>
        </p:nvSpPr>
        <p:spPr>
          <a:xfrm>
            <a:off x="7315200" y="1645920"/>
            <a:ext cx="4343400" cy="4572000"/>
          </a:xfrm>
          <a:prstGeom prst="roundRect">
            <a:avLst>
              <a:gd name="adj" fmla="val 1684"/>
            </a:avLst>
          </a:prstGeom>
          <a:solidFill>
            <a:srgbClr val="FFFFFF"/>
          </a:solidFill>
          <a:ln w="12700">
            <a:solidFill>
              <a:srgbClr val="DCE7EA"/>
            </a:solidFill>
            <a:prstDash val="solid"/>
          </a:ln>
        </p:spPr>
      </p:sp>
      <p:sp>
        <p:nvSpPr>
          <p:cNvPr id="6" name="Text 3"/>
          <p:cNvSpPr txBox="1"/>
          <p:nvPr/>
        </p:nvSpPr>
        <p:spPr>
          <a:xfrm>
            <a:off x="7299960" y="1758315"/>
            <a:ext cx="4358005" cy="4322445"/>
          </a:xfrm>
          <a:prstGeom prst="rect">
            <a:avLst/>
          </a:prstGeom>
          <a:noFill/>
        </p:spPr>
        <p:txBody>
          <a:bodyPr wrap="square" rtlCol="0" anchor="t"/>
          <a:lstStyle/>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Blood glucose (BS) dominates by a wide margin under both permutation (0.287) and built-in (0.339) importance.</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SystolicBP, BodyTemp, and Age also rank consistently high in both methods.</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Engineered ratio features (Pulse Pressure, Systolic/Diastolic Ratio) show near-zero or negative permutation importance  the raw vital signs already carry the real signal.</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Impurity-based importance alone would have overstated these derived features' value.</a:t>
            </a:r>
            <a:endParaRPr lang="en-US" sz="1600" dirty="0"/>
          </a:p>
          <a:p>
            <a:pPr marL="228600" indent="-228600">
              <a:spcAft>
                <a:spcPts val="12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Caveat: feature importance indicates predictive contribution  it does not by itself establish causality or clinical importance.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8" name="Text 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06 · INTERPRETATION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Statistical Significance &amp; Validity Notes</a:t>
            </a:r>
            <a:endParaRPr lang="en-US" sz="3000" dirty="0"/>
          </a:p>
        </p:txBody>
      </p:sp>
      <p:sp>
        <p:nvSpPr>
          <p:cNvPr id="4" name="Shape 2"/>
          <p:cNvSpPr/>
          <p:nvPr/>
        </p:nvSpPr>
        <p:spPr>
          <a:xfrm>
            <a:off x="548640" y="1645920"/>
            <a:ext cx="11064240" cy="1600200"/>
          </a:xfrm>
          <a:prstGeom prst="roundRect">
            <a:avLst>
              <a:gd name="adj" fmla="val 4571"/>
            </a:avLst>
          </a:prstGeom>
          <a:solidFill>
            <a:srgbClr val="E9F3F0"/>
          </a:solidFill>
          <a:ln w="12700">
            <a:solidFill>
              <a:srgbClr val="3E7C8C"/>
            </a:solidFill>
            <a:prstDash val="solid"/>
          </a:ln>
        </p:spPr>
      </p:sp>
      <p:sp>
        <p:nvSpPr>
          <p:cNvPr id="5" name="Text 3"/>
          <p:cNvSpPr txBox="1"/>
          <p:nvPr/>
        </p:nvSpPr>
        <p:spPr>
          <a:xfrm>
            <a:off x="822960" y="1810512"/>
            <a:ext cx="10515600" cy="457200"/>
          </a:xfrm>
          <a:prstGeom prst="rect">
            <a:avLst/>
          </a:prstGeom>
          <a:noFill/>
        </p:spPr>
        <p:txBody>
          <a:bodyPr wrap="square" rtlCol="0" anchor="ctr"/>
          <a:lstStyle/>
          <a:p>
            <a:pPr marL="0" indent="0">
              <a:buNone/>
            </a:pPr>
            <a:r>
              <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rPr>
              <a:t>Friedman Test: statistic = 27.257, p = 0.00013 (significant at alpha = 0.05)</a:t>
            </a:r>
            <a:endParaRPr lang="en-US"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txBox="1"/>
          <p:nvPr/>
        </p:nvSpPr>
        <p:spPr>
          <a:xfrm>
            <a:off x="822960" y="2286000"/>
            <a:ext cx="10515600" cy="914400"/>
          </a:xfrm>
          <a:prstGeom prst="rect">
            <a:avLst/>
          </a:prstGeom>
          <a:noFill/>
        </p:spPr>
        <p:txBody>
          <a:bodyPr wrap="square" rtlCol="0" anchor="ctr"/>
          <a:lstStyle/>
          <a:p>
            <a:pPr marL="0" indent="0">
              <a:buNone/>
            </a:pPr>
            <a:r>
              <a:rPr lang="en-US" sz="1600" i="1" dirty="0">
                <a:solidFill>
                  <a:srgbClr val="5B6B73"/>
                </a:solidFill>
                <a:latin typeface="Calibri" panose="020F0502020204030204" pitchFamily="34" charset="0"/>
                <a:ea typeface="Calibri" panose="020F0502020204030204" pitchFamily="34" charset="-122"/>
                <a:cs typeface="Calibri" panose="020F0502020204030204" pitchFamily="34" charset="-120"/>
              </a:rPr>
              <a:t>Because the same cross-validation framework was used for both hyperparameter selection and this comparison, the result is interpreted as supportive evidence of real performance differences  not as fully independent statistical confirmation.</a:t>
            </a:r>
            <a:endParaRPr lang="en-US" sz="1600" i="1"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548640" y="3429000"/>
            <a:ext cx="11064240" cy="2651760"/>
          </a:xfrm>
          <a:prstGeom prst="roundRect">
            <a:avLst>
              <a:gd name="adj" fmla="val 2759"/>
            </a:avLst>
          </a:prstGeom>
          <a:solidFill>
            <a:srgbClr val="FFF1EC"/>
          </a:solidFill>
          <a:ln w="12700">
            <a:solidFill>
              <a:srgbClr val="E76F51"/>
            </a:solidFill>
            <a:prstDash val="solid"/>
          </a:ln>
        </p:spPr>
      </p:sp>
      <p:sp>
        <p:nvSpPr>
          <p:cNvPr id="8" name="Text 6"/>
          <p:cNvSpPr txBox="1"/>
          <p:nvPr/>
        </p:nvSpPr>
        <p:spPr>
          <a:xfrm>
            <a:off x="822960" y="3611880"/>
            <a:ext cx="10515600" cy="411480"/>
          </a:xfrm>
          <a:prstGeom prst="rect">
            <a:avLst/>
          </a:prstGeom>
          <a:noFill/>
        </p:spPr>
        <p:txBody>
          <a:bodyPr wrap="square" rtlCol="0" anchor="ctr"/>
          <a:lstStyle/>
          <a:p>
            <a:pPr marL="0" indent="0">
              <a:buNone/>
            </a:pPr>
            <a:r>
              <a:rPr lang="en-US" b="1" dirty="0">
                <a:solidFill>
                  <a:srgbClr val="8A3B24"/>
                </a:solidFill>
                <a:latin typeface="Calibri" panose="020F0502020204030204" pitchFamily="34" charset="0"/>
                <a:ea typeface="Calibri" panose="020F0502020204030204" pitchFamily="34" charset="-122"/>
                <a:cs typeface="Calibri" panose="020F0502020204030204" pitchFamily="34" charset="-120"/>
              </a:rPr>
              <a:t>Duplicate-Row Caveat (RQ5 / RQ6)</a:t>
            </a:r>
            <a:endParaRPr lang="en-US" b="1" dirty="0">
              <a:solidFill>
                <a:srgbClr val="8A3B24"/>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txBox="1"/>
          <p:nvPr/>
        </p:nvSpPr>
        <p:spPr>
          <a:xfrm>
            <a:off x="822960" y="4069080"/>
            <a:ext cx="10515600" cy="1920240"/>
          </a:xfrm>
          <a:prstGeom prst="rect">
            <a:avLst/>
          </a:prstGeom>
          <a:noFill/>
        </p:spPr>
        <p:txBody>
          <a:bodyPr wrap="square" rtlCol="0" anchor="t"/>
          <a:lstStyle/>
          <a:p>
            <a:pPr marL="228600" indent="-228600">
              <a:spcAft>
                <a:spcPts val="7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562 of 1,014 rows are exact duplicates, and the dataset has no patient-level identifier.</a:t>
            </a:r>
            <a:endParaRPr lang="en-US" sz="1600" dirty="0"/>
          </a:p>
          <a:p>
            <a:pPr marL="228600" indent="-228600">
              <a:spcAft>
                <a:spcPts val="7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Random train/test splitting may therefore place identical observations in both partitions.</a:t>
            </a:r>
            <a:endParaRPr lang="en-US" sz="1600" dirty="0"/>
          </a:p>
          <a:p>
            <a:pPr marL="228600" indent="-228600">
              <a:spcAft>
                <a:spcPts val="7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Although the test set was never used for model selection, reported hold-out performance may still be optimistic as a result.</a:t>
            </a:r>
            <a:endParaRPr lang="en-US" sz="1600" dirty="0"/>
          </a:p>
          <a:p>
            <a:pPr marL="228600" indent="-228600">
              <a:spcAft>
                <a:spcPts val="7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Future validation should use patient-level or grouped splitting where such identifiers become available.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1" name="Text 9"/>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06 · INTERPRETATION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Unsupervised Check: PCA &amp; K-Means</a:t>
            </a:r>
            <a:endParaRPr lang="en-US" sz="3000" dirty="0"/>
          </a:p>
        </p:txBody>
      </p:sp>
      <p:pic>
        <p:nvPicPr>
          <p:cNvPr id="4" name="Image 0" descr="/home/claude/ppt/docx_extracted/word/media/image16.png"/>
          <p:cNvPicPr>
            <a:picLocks noChangeAspect="1"/>
          </p:cNvPicPr>
          <p:nvPr/>
        </p:nvPicPr>
        <p:blipFill>
          <a:blip r:embed="rId1"/>
          <a:stretch>
            <a:fillRect/>
          </a:stretch>
        </p:blipFill>
        <p:spPr>
          <a:xfrm>
            <a:off x="608396" y="1554480"/>
            <a:ext cx="5092568" cy="3794760"/>
          </a:xfrm>
          <a:prstGeom prst="rect">
            <a:avLst/>
          </a:prstGeom>
        </p:spPr>
      </p:pic>
      <p:pic>
        <p:nvPicPr>
          <p:cNvPr id="5" name="Image 1" descr="/home/claude/ppt/docx_extracted/word/media/image17.png"/>
          <p:cNvPicPr>
            <a:picLocks noChangeAspect="1"/>
          </p:cNvPicPr>
          <p:nvPr/>
        </p:nvPicPr>
        <p:blipFill>
          <a:blip r:embed="rId2"/>
          <a:stretch>
            <a:fillRect/>
          </a:stretch>
        </p:blipFill>
        <p:spPr>
          <a:xfrm>
            <a:off x="6186236" y="1554480"/>
            <a:ext cx="5092568" cy="3794760"/>
          </a:xfrm>
          <a:prstGeom prst="rect">
            <a:avLst/>
          </a:prstGeom>
        </p:spPr>
      </p:pic>
      <p:sp>
        <p:nvSpPr>
          <p:cNvPr id="6" name="Shape 2"/>
          <p:cNvSpPr/>
          <p:nvPr/>
        </p:nvSpPr>
        <p:spPr>
          <a:xfrm>
            <a:off x="457200" y="5486400"/>
            <a:ext cx="10972800" cy="960120"/>
          </a:xfrm>
          <a:prstGeom prst="roundRect">
            <a:avLst>
              <a:gd name="adj" fmla="val 6667"/>
            </a:avLst>
          </a:prstGeom>
          <a:solidFill>
            <a:srgbClr val="E9F3F0"/>
          </a:solidFill>
          <a:ln w="12700">
            <a:solidFill>
              <a:srgbClr val="3E7C8C"/>
            </a:solidFill>
            <a:prstDash val="solid"/>
          </a:ln>
        </p:spPr>
      </p:sp>
      <p:sp>
        <p:nvSpPr>
          <p:cNvPr id="7" name="Text 3"/>
          <p:cNvSpPr txBox="1"/>
          <p:nvPr/>
        </p:nvSpPr>
        <p:spPr>
          <a:xfrm>
            <a:off x="685800" y="5596128"/>
            <a:ext cx="10515600" cy="73152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117 of 217 high-risk training observations (53.9%) fall in one cluster . but that same cluster also contains 70 low-risk and 56 mid-risk observations, showing substantial overlap.</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9" name="Text 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FINDINGS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Answers to the Research Questions (1/2)</a:t>
            </a:r>
            <a:endParaRPr lang="en-US" sz="3000" dirty="0"/>
          </a:p>
        </p:txBody>
      </p:sp>
      <p:sp>
        <p:nvSpPr>
          <p:cNvPr id="4" name="Shape 2"/>
          <p:cNvSpPr/>
          <p:nvPr/>
        </p:nvSpPr>
        <p:spPr>
          <a:xfrm>
            <a:off x="548640" y="1737360"/>
            <a:ext cx="11064240" cy="1234440"/>
          </a:xfrm>
          <a:prstGeom prst="roundRect">
            <a:avLst>
              <a:gd name="adj" fmla="val 5926"/>
            </a:avLst>
          </a:prstGeom>
          <a:solidFill>
            <a:srgbClr val="FFFFFF"/>
          </a:solidFill>
          <a:ln w="12700">
            <a:solidFill>
              <a:srgbClr val="DCE7EA"/>
            </a:solidFill>
            <a:prstDash val="solid"/>
          </a:ln>
        </p:spPr>
      </p:sp>
      <p:sp>
        <p:nvSpPr>
          <p:cNvPr id="5" name="Shape 3"/>
          <p:cNvSpPr/>
          <p:nvPr/>
        </p:nvSpPr>
        <p:spPr>
          <a:xfrm>
            <a:off x="777240" y="2121408"/>
            <a:ext cx="566928" cy="292608"/>
          </a:xfrm>
          <a:prstGeom prst="roundRect">
            <a:avLst>
              <a:gd name="adj" fmla="val 18750"/>
            </a:avLst>
          </a:prstGeom>
          <a:solidFill>
            <a:srgbClr val="0B3D57"/>
          </a:solidFill>
        </p:spPr>
      </p:sp>
      <p:sp>
        <p:nvSpPr>
          <p:cNvPr id="6" name="Text 4"/>
          <p:cNvSpPr txBox="1"/>
          <p:nvPr/>
        </p:nvSpPr>
        <p:spPr>
          <a:xfrm>
            <a:off x="777240" y="2121408"/>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RQ1</a:t>
            </a:r>
            <a:endParaRPr lang="en-US" sz="1200" dirty="0"/>
          </a:p>
        </p:txBody>
      </p:sp>
      <p:sp>
        <p:nvSpPr>
          <p:cNvPr id="7" name="Text 5"/>
          <p:cNvSpPr txBox="1"/>
          <p:nvPr/>
        </p:nvSpPr>
        <p:spPr>
          <a:xfrm>
            <a:off x="1554480" y="1762760"/>
            <a:ext cx="9875520" cy="105156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Strong signal exists: CV Macro F1 up to 0.834; held-out test Macro F1 of 0.851, accuracy 0.847.</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548640" y="3154680"/>
            <a:ext cx="11064240" cy="1234440"/>
          </a:xfrm>
          <a:prstGeom prst="roundRect">
            <a:avLst>
              <a:gd name="adj" fmla="val 5926"/>
            </a:avLst>
          </a:prstGeom>
          <a:solidFill>
            <a:srgbClr val="FFFFFF"/>
          </a:solidFill>
          <a:ln w="12700">
            <a:solidFill>
              <a:srgbClr val="DCE7EA"/>
            </a:solidFill>
            <a:prstDash val="solid"/>
          </a:ln>
        </p:spPr>
      </p:sp>
      <p:sp>
        <p:nvSpPr>
          <p:cNvPr id="9" name="Shape 7"/>
          <p:cNvSpPr/>
          <p:nvPr/>
        </p:nvSpPr>
        <p:spPr>
          <a:xfrm>
            <a:off x="777240" y="3538728"/>
            <a:ext cx="566928" cy="292608"/>
          </a:xfrm>
          <a:prstGeom prst="roundRect">
            <a:avLst>
              <a:gd name="adj" fmla="val 18750"/>
            </a:avLst>
          </a:prstGeom>
          <a:solidFill>
            <a:srgbClr val="0B3D57"/>
          </a:solidFill>
        </p:spPr>
      </p:sp>
      <p:sp>
        <p:nvSpPr>
          <p:cNvPr id="10" name="Text 8"/>
          <p:cNvSpPr txBox="1"/>
          <p:nvPr/>
        </p:nvSpPr>
        <p:spPr>
          <a:xfrm>
            <a:off x="777240" y="3538728"/>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RQ2</a:t>
            </a:r>
            <a:endParaRPr lang="en-US" sz="1200" dirty="0"/>
          </a:p>
        </p:txBody>
      </p:sp>
      <p:sp>
        <p:nvSpPr>
          <p:cNvPr id="11" name="Text 9"/>
          <p:cNvSpPr txBox="1"/>
          <p:nvPr/>
        </p:nvSpPr>
        <p:spPr>
          <a:xfrm>
            <a:off x="1554480" y="3180080"/>
            <a:ext cx="9875520" cy="105156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Random Forest won by the pre-specified CV protocol; Friedman test supports real differences across models (p = 0.00013), interpreted as supportive, not independently confirmatory.</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48640" y="4572000"/>
            <a:ext cx="11064240" cy="1234440"/>
          </a:xfrm>
          <a:prstGeom prst="roundRect">
            <a:avLst>
              <a:gd name="adj" fmla="val 5926"/>
            </a:avLst>
          </a:prstGeom>
          <a:solidFill>
            <a:srgbClr val="FFFFFF"/>
          </a:solidFill>
          <a:ln w="12700">
            <a:solidFill>
              <a:srgbClr val="DCE7EA"/>
            </a:solidFill>
            <a:prstDash val="solid"/>
          </a:ln>
        </p:spPr>
      </p:sp>
      <p:sp>
        <p:nvSpPr>
          <p:cNvPr id="13" name="Shape 11"/>
          <p:cNvSpPr/>
          <p:nvPr/>
        </p:nvSpPr>
        <p:spPr>
          <a:xfrm>
            <a:off x="777240" y="4956048"/>
            <a:ext cx="566928" cy="292608"/>
          </a:xfrm>
          <a:prstGeom prst="roundRect">
            <a:avLst>
              <a:gd name="adj" fmla="val 18750"/>
            </a:avLst>
          </a:prstGeom>
          <a:solidFill>
            <a:srgbClr val="0B3D57"/>
          </a:solidFill>
        </p:spPr>
      </p:sp>
      <p:sp>
        <p:nvSpPr>
          <p:cNvPr id="14" name="Text 12"/>
          <p:cNvSpPr txBox="1"/>
          <p:nvPr/>
        </p:nvSpPr>
        <p:spPr>
          <a:xfrm>
            <a:off x="777240" y="4956048"/>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RQ3</a:t>
            </a:r>
            <a:endParaRPr lang="en-US" sz="1200" dirty="0"/>
          </a:p>
        </p:txBody>
      </p:sp>
      <p:sp>
        <p:nvSpPr>
          <p:cNvPr id="15" name="Text 13"/>
          <p:cNvSpPr txBox="1"/>
          <p:nvPr/>
        </p:nvSpPr>
        <p:spPr>
          <a:xfrm>
            <a:off x="1554480" y="4597400"/>
            <a:ext cx="9875520" cy="105156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High-risk recall (96.4%) far exceeds mid-risk recall (79.1%) = macro-averaging was essential to a fair comparison.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7" name="Text 1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FINDINGS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Answers to the Research Questions (2/2)</a:t>
            </a:r>
            <a:endParaRPr lang="en-US" sz="3000" dirty="0"/>
          </a:p>
        </p:txBody>
      </p:sp>
      <p:sp>
        <p:nvSpPr>
          <p:cNvPr id="4" name="Shape 2"/>
          <p:cNvSpPr/>
          <p:nvPr/>
        </p:nvSpPr>
        <p:spPr>
          <a:xfrm>
            <a:off x="548640" y="1737360"/>
            <a:ext cx="11064240" cy="1234440"/>
          </a:xfrm>
          <a:prstGeom prst="roundRect">
            <a:avLst>
              <a:gd name="adj" fmla="val 5926"/>
            </a:avLst>
          </a:prstGeom>
          <a:solidFill>
            <a:srgbClr val="FFFFFF"/>
          </a:solidFill>
          <a:ln w="12700">
            <a:solidFill>
              <a:srgbClr val="DCE7EA"/>
            </a:solidFill>
            <a:prstDash val="solid"/>
          </a:ln>
        </p:spPr>
      </p:sp>
      <p:sp>
        <p:nvSpPr>
          <p:cNvPr id="5" name="Shape 3"/>
          <p:cNvSpPr/>
          <p:nvPr/>
        </p:nvSpPr>
        <p:spPr>
          <a:xfrm>
            <a:off x="777240" y="2121408"/>
            <a:ext cx="566928" cy="292608"/>
          </a:xfrm>
          <a:prstGeom prst="roundRect">
            <a:avLst>
              <a:gd name="adj" fmla="val 18750"/>
            </a:avLst>
          </a:prstGeom>
          <a:solidFill>
            <a:srgbClr val="3E7C8C"/>
          </a:solidFill>
        </p:spPr>
      </p:sp>
      <p:sp>
        <p:nvSpPr>
          <p:cNvPr id="6" name="Text 4"/>
          <p:cNvSpPr txBox="1"/>
          <p:nvPr/>
        </p:nvSpPr>
        <p:spPr>
          <a:xfrm>
            <a:off x="777240" y="2121408"/>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RQ4</a:t>
            </a:r>
            <a:endParaRPr lang="en-US" sz="1200" dirty="0"/>
          </a:p>
        </p:txBody>
      </p:sp>
      <p:sp>
        <p:nvSpPr>
          <p:cNvPr id="7" name="Text 5"/>
          <p:cNvSpPr txBox="1"/>
          <p:nvPr/>
        </p:nvSpPr>
        <p:spPr>
          <a:xfrm>
            <a:off x="1554480" y="1787525"/>
            <a:ext cx="9875520" cy="105156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Blood glucose (BS) is the dominant feature under both importance methods; engineered ratio features added little beyond the raw vital signs.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548640" y="3154680"/>
            <a:ext cx="11064240" cy="1234440"/>
          </a:xfrm>
          <a:prstGeom prst="roundRect">
            <a:avLst>
              <a:gd name="adj" fmla="val 5926"/>
            </a:avLst>
          </a:prstGeom>
          <a:solidFill>
            <a:srgbClr val="FFFFFF"/>
          </a:solidFill>
          <a:ln w="12700">
            <a:solidFill>
              <a:srgbClr val="DCE7EA"/>
            </a:solidFill>
            <a:prstDash val="solid"/>
          </a:ln>
        </p:spPr>
      </p:sp>
      <p:sp>
        <p:nvSpPr>
          <p:cNvPr id="9" name="Shape 7"/>
          <p:cNvSpPr/>
          <p:nvPr/>
        </p:nvSpPr>
        <p:spPr>
          <a:xfrm>
            <a:off x="777240" y="3538728"/>
            <a:ext cx="566928" cy="292608"/>
          </a:xfrm>
          <a:prstGeom prst="roundRect">
            <a:avLst>
              <a:gd name="adj" fmla="val 18750"/>
            </a:avLst>
          </a:prstGeom>
          <a:solidFill>
            <a:srgbClr val="3E7C8C"/>
          </a:solidFill>
        </p:spPr>
      </p:sp>
      <p:sp>
        <p:nvSpPr>
          <p:cNvPr id="10" name="Text 8"/>
          <p:cNvSpPr txBox="1"/>
          <p:nvPr/>
        </p:nvSpPr>
        <p:spPr>
          <a:xfrm>
            <a:off x="777240" y="3538728"/>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RQ5</a:t>
            </a:r>
            <a:endParaRPr lang="en-US" sz="1200" dirty="0"/>
          </a:p>
        </p:txBody>
      </p:sp>
      <p:sp>
        <p:nvSpPr>
          <p:cNvPr id="11" name="Text 9"/>
          <p:cNvSpPr txBox="1"/>
          <p:nvPr/>
        </p:nvSpPr>
        <p:spPr>
          <a:xfrm>
            <a:off x="1554480" y="3204845"/>
            <a:ext cx="9875520" cy="105156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CV and test Macro F1 were broadly consistent (0.834 vs. 0.851), but the duplicate-row caveat means this should not be read as strong proof of generalization.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548640" y="4572000"/>
            <a:ext cx="11064240" cy="1234440"/>
          </a:xfrm>
          <a:prstGeom prst="roundRect">
            <a:avLst>
              <a:gd name="adj" fmla="val 5926"/>
            </a:avLst>
          </a:prstGeom>
          <a:solidFill>
            <a:srgbClr val="FFFFFF"/>
          </a:solidFill>
          <a:ln w="12700">
            <a:solidFill>
              <a:srgbClr val="DCE7EA"/>
            </a:solidFill>
            <a:prstDash val="solid"/>
          </a:ln>
        </p:spPr>
      </p:sp>
      <p:sp>
        <p:nvSpPr>
          <p:cNvPr id="13" name="Shape 11"/>
          <p:cNvSpPr/>
          <p:nvPr/>
        </p:nvSpPr>
        <p:spPr>
          <a:xfrm>
            <a:off x="777240" y="4956048"/>
            <a:ext cx="566928" cy="292608"/>
          </a:xfrm>
          <a:prstGeom prst="roundRect">
            <a:avLst>
              <a:gd name="adj" fmla="val 18750"/>
            </a:avLst>
          </a:prstGeom>
          <a:solidFill>
            <a:srgbClr val="3E7C8C"/>
          </a:solidFill>
        </p:spPr>
      </p:sp>
      <p:sp>
        <p:nvSpPr>
          <p:cNvPr id="14" name="Text 12"/>
          <p:cNvSpPr txBox="1"/>
          <p:nvPr/>
        </p:nvSpPr>
        <p:spPr>
          <a:xfrm>
            <a:off x="777240" y="4956048"/>
            <a:ext cx="566928" cy="29260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RQ6</a:t>
            </a:r>
            <a:endParaRPr lang="en-US" sz="1200" dirty="0"/>
          </a:p>
        </p:txBody>
      </p:sp>
      <p:sp>
        <p:nvSpPr>
          <p:cNvPr id="15" name="Text 13"/>
          <p:cNvSpPr txBox="1"/>
          <p:nvPr/>
        </p:nvSpPr>
        <p:spPr>
          <a:xfrm>
            <a:off x="1554480" y="4622165"/>
            <a:ext cx="9875520" cy="105156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Promising performance, but not clinical readiness: appropriate role is clinician-in-the-loop decision support, not autonomous diagnosis.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7" name="Text 15"/>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07 · CONCLUSIONS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Strengths &amp; Limitations</a:t>
            </a:r>
            <a:endParaRPr lang="en-US" sz="3000" dirty="0"/>
          </a:p>
        </p:txBody>
      </p:sp>
      <p:sp>
        <p:nvSpPr>
          <p:cNvPr id="4" name="Shape 2"/>
          <p:cNvSpPr/>
          <p:nvPr/>
        </p:nvSpPr>
        <p:spPr>
          <a:xfrm>
            <a:off x="548640" y="1600200"/>
            <a:ext cx="5440680" cy="4572000"/>
          </a:xfrm>
          <a:prstGeom prst="roundRect">
            <a:avLst>
              <a:gd name="adj" fmla="val 1600"/>
            </a:avLst>
          </a:prstGeom>
          <a:solidFill>
            <a:srgbClr val="E9F3F0"/>
          </a:solidFill>
        </p:spPr>
      </p:sp>
      <p:sp>
        <p:nvSpPr>
          <p:cNvPr id="5" name="Text 3"/>
          <p:cNvSpPr txBox="1"/>
          <p:nvPr/>
        </p:nvSpPr>
        <p:spPr>
          <a:xfrm>
            <a:off x="822960" y="1783080"/>
            <a:ext cx="4846320" cy="457200"/>
          </a:xfrm>
          <a:prstGeom prst="rect">
            <a:avLst/>
          </a:prstGeom>
          <a:noFill/>
        </p:spPr>
        <p:txBody>
          <a:bodyPr wrap="square" rtlCol="0" anchor="ctr"/>
          <a:lstStyle/>
          <a:p>
            <a:pPr marL="0" indent="0">
              <a:buNone/>
            </a:pPr>
            <a:r>
              <a:rPr lang="en-US" sz="2000" b="1" dirty="0">
                <a:solidFill>
                  <a:srgbClr val="1B5E4F"/>
                </a:solidFill>
                <a:latin typeface="Calibri" panose="020F0502020204030204" pitchFamily="34" charset="0"/>
                <a:ea typeface="Calibri" panose="020F0502020204030204" pitchFamily="34" charset="-122"/>
                <a:cs typeface="Calibri" panose="020F0502020204030204" pitchFamily="34" charset="-120"/>
              </a:rPr>
              <a:t>Strengths</a:t>
            </a:r>
            <a:endParaRPr lang="en-US" sz="2000" b="1" dirty="0">
              <a:solidFill>
                <a:srgbClr val="1B5E4F"/>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txBox="1"/>
          <p:nvPr/>
        </p:nvSpPr>
        <p:spPr>
          <a:xfrm>
            <a:off x="822960" y="2286000"/>
            <a:ext cx="4937760" cy="3749040"/>
          </a:xfrm>
          <a:prstGeom prst="rect">
            <a:avLst/>
          </a:prstGeom>
          <a:noFill/>
        </p:spPr>
        <p:txBody>
          <a:bodyPr wrap="square" rtlCol="0" anchor="t"/>
          <a:lstStyle/>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Model selection strictly CV-based, never test-driven</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All 7 models exhaustively tuned, not just top performers</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Two independent importance methods cross-checked</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Formal Friedman significance test applied</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Duplicate-row policy stated transparently, not hidden</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Fully reproducible: fixed seeds, saved versions, validation gate</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6172200" y="1600200"/>
            <a:ext cx="5440680" cy="4572000"/>
          </a:xfrm>
          <a:prstGeom prst="roundRect">
            <a:avLst>
              <a:gd name="adj" fmla="val 1600"/>
            </a:avLst>
          </a:prstGeom>
          <a:solidFill>
            <a:srgbClr val="FFF1EC"/>
          </a:solidFill>
        </p:spPr>
      </p:sp>
      <p:sp>
        <p:nvSpPr>
          <p:cNvPr id="8" name="Text 6"/>
          <p:cNvSpPr txBox="1"/>
          <p:nvPr/>
        </p:nvSpPr>
        <p:spPr>
          <a:xfrm>
            <a:off x="6446520" y="1783080"/>
            <a:ext cx="4846320" cy="457200"/>
          </a:xfrm>
          <a:prstGeom prst="rect">
            <a:avLst/>
          </a:prstGeom>
          <a:noFill/>
        </p:spPr>
        <p:txBody>
          <a:bodyPr wrap="square" rtlCol="0" anchor="ctr"/>
          <a:lstStyle/>
          <a:p>
            <a:pPr marL="0" indent="0">
              <a:buNone/>
            </a:pPr>
            <a:r>
              <a:rPr lang="en-US" sz="2000" b="1" dirty="0">
                <a:solidFill>
                  <a:srgbClr val="8A3B24"/>
                </a:solidFill>
                <a:latin typeface="Calibri" panose="020F0502020204030204" pitchFamily="34" charset="0"/>
                <a:ea typeface="Calibri" panose="020F0502020204030204" pitchFamily="34" charset="-122"/>
                <a:cs typeface="Calibri" panose="020F0502020204030204" pitchFamily="34" charset="-120"/>
              </a:rPr>
              <a:t>Limitations</a:t>
            </a:r>
            <a:endParaRPr lang="en-US" sz="2000" b="1" dirty="0">
              <a:solidFill>
                <a:srgbClr val="8A3B24"/>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txBox="1"/>
          <p:nvPr/>
        </p:nvSpPr>
        <p:spPr>
          <a:xfrm>
            <a:off x="6446520" y="2286000"/>
            <a:ext cx="4937760" cy="3749040"/>
          </a:xfrm>
          <a:prstGeom prst="rect">
            <a:avLst/>
          </a:prstGeom>
          <a:noFill/>
        </p:spPr>
        <p:txBody>
          <a:bodyPr wrap="square" rtlCol="0" anchor="t"/>
          <a:lstStyle/>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Single-country dataset; only 452 truly unique records</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Only 6 raw vital signs , no obstetric or lab history</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No external or clinical validation performed</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Duplicate rows + no patient ID may inflate hold-out score</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Random Forest did not top every single test metric</a:t>
            </a:r>
            <a:endParaRPr lang="en-US" sz="1600" dirty="0"/>
          </a:p>
          <a:p>
            <a:pPr marL="228600" indent="-228600">
              <a:spcAft>
                <a:spcPts val="900"/>
              </a:spcAft>
              <a:buSzPct val="100000"/>
              <a:buChar char="•"/>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No subgroup fairness or calibration testing yet</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1" name="Text 9"/>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293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8FD4C1"/>
                </a:solidFill>
                <a:latin typeface="Calibri" panose="020F0502020204030204" pitchFamily="34" charset="0"/>
                <a:ea typeface="Calibri" panose="020F0502020204030204" pitchFamily="34" charset="-122"/>
                <a:cs typeface="Calibri" panose="020F0502020204030204" pitchFamily="34" charset="-120"/>
              </a:rPr>
              <a:t>07 · CONCLUSIONS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Key Takeaways</a:t>
            </a:r>
            <a:endParaRPr lang="en-US" sz="3000" dirty="0"/>
          </a:p>
        </p:txBody>
      </p:sp>
      <p:sp>
        <p:nvSpPr>
          <p:cNvPr id="4" name="Shape 2"/>
          <p:cNvSpPr/>
          <p:nvPr/>
        </p:nvSpPr>
        <p:spPr>
          <a:xfrm>
            <a:off x="548640" y="1920240"/>
            <a:ext cx="2606040" cy="1737360"/>
          </a:xfrm>
          <a:prstGeom prst="roundRect">
            <a:avLst>
              <a:gd name="adj" fmla="val 4211"/>
            </a:avLst>
          </a:prstGeom>
          <a:solidFill>
            <a:srgbClr val="0F4A5F"/>
          </a:solidFill>
        </p:spPr>
      </p:sp>
      <p:sp>
        <p:nvSpPr>
          <p:cNvPr id="5" name="Text 3"/>
          <p:cNvSpPr txBox="1"/>
          <p:nvPr/>
        </p:nvSpPr>
        <p:spPr>
          <a:xfrm>
            <a:off x="548640" y="2057400"/>
            <a:ext cx="2606040" cy="1143000"/>
          </a:xfrm>
          <a:prstGeom prst="rect">
            <a:avLst/>
          </a:prstGeom>
          <a:noFill/>
        </p:spPr>
        <p:txBody>
          <a:bodyPr wrap="square"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0.851</a:t>
            </a:r>
            <a:endPar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6" name="Text 4"/>
          <p:cNvSpPr txBox="1"/>
          <p:nvPr/>
        </p:nvSpPr>
        <p:spPr>
          <a:xfrm>
            <a:off x="640080" y="3108960"/>
            <a:ext cx="2423160" cy="502920"/>
          </a:xfrm>
          <a:prstGeom prst="rect">
            <a:avLst/>
          </a:prstGeom>
          <a:noFill/>
        </p:spPr>
        <p:txBody>
          <a:bodyPr wrap="square" rtlCol="0" anchor="t"/>
          <a:lstStyle/>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Test Macro F1</a:t>
            </a:r>
            <a:endParaRPr lang="en-US" sz="1200" dirty="0"/>
          </a:p>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3383280" y="1920240"/>
            <a:ext cx="2606040" cy="1737360"/>
          </a:xfrm>
          <a:prstGeom prst="roundRect">
            <a:avLst>
              <a:gd name="adj" fmla="val 4211"/>
            </a:avLst>
          </a:prstGeom>
          <a:solidFill>
            <a:srgbClr val="0F4A5F"/>
          </a:solidFill>
        </p:spPr>
      </p:sp>
      <p:sp>
        <p:nvSpPr>
          <p:cNvPr id="8" name="Text 6"/>
          <p:cNvSpPr txBox="1"/>
          <p:nvPr/>
        </p:nvSpPr>
        <p:spPr>
          <a:xfrm>
            <a:off x="3383280" y="2057400"/>
            <a:ext cx="2606040" cy="1143000"/>
          </a:xfrm>
          <a:prstGeom prst="rect">
            <a:avLst/>
          </a:prstGeom>
          <a:noFill/>
        </p:spPr>
        <p:txBody>
          <a:bodyPr wrap="square"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0.953</a:t>
            </a:r>
            <a:endPar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9" name="Text 7"/>
          <p:cNvSpPr txBox="1"/>
          <p:nvPr/>
        </p:nvSpPr>
        <p:spPr>
          <a:xfrm>
            <a:off x="3474720" y="3108960"/>
            <a:ext cx="2423160" cy="502920"/>
          </a:xfrm>
          <a:prstGeom prst="rect">
            <a:avLst/>
          </a:prstGeom>
          <a:noFill/>
        </p:spPr>
        <p:txBody>
          <a:bodyPr wrap="square" rtlCol="0" anchor="t"/>
          <a:lstStyle/>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Test ROC-AUC</a:t>
            </a:r>
            <a:endParaRPr lang="en-US" sz="1200" dirty="0"/>
          </a:p>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(macro)</a:t>
            </a:r>
            <a:endPar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6217920" y="1920240"/>
            <a:ext cx="2606040" cy="1737360"/>
          </a:xfrm>
          <a:prstGeom prst="roundRect">
            <a:avLst>
              <a:gd name="adj" fmla="val 4211"/>
            </a:avLst>
          </a:prstGeom>
          <a:solidFill>
            <a:srgbClr val="0F4A5F"/>
          </a:solidFill>
        </p:spPr>
      </p:sp>
      <p:sp>
        <p:nvSpPr>
          <p:cNvPr id="11" name="Text 9"/>
          <p:cNvSpPr txBox="1"/>
          <p:nvPr/>
        </p:nvSpPr>
        <p:spPr>
          <a:xfrm>
            <a:off x="6217920" y="2057400"/>
            <a:ext cx="2606040" cy="1143000"/>
          </a:xfrm>
          <a:prstGeom prst="rect">
            <a:avLst/>
          </a:prstGeom>
          <a:noFill/>
        </p:spPr>
        <p:txBody>
          <a:bodyPr wrap="square" rtlCol="0" anchor="ctr"/>
          <a:lstStyle/>
          <a:p>
            <a:pPr marL="0" indent="0" algn="ctr">
              <a:buNone/>
            </a:pPr>
            <a:r>
              <a:rPr lang="en-US" sz="2800" b="1" dirty="0">
                <a:solidFill>
                  <a:srgbClr val="8FD4C1"/>
                </a:solidFill>
                <a:latin typeface="Cambria" panose="02040503050406030204" pitchFamily="34" charset="0"/>
                <a:ea typeface="Cambria" panose="02040503050406030204" pitchFamily="34" charset="-122"/>
                <a:cs typeface="Cambria" panose="02040503050406030204" pitchFamily="34" charset="-120"/>
              </a:rPr>
              <a:t>p&lt;0.001</a:t>
            </a:r>
            <a:endParaRPr lang="en-US" sz="2800" b="1" dirty="0">
              <a:solidFill>
                <a:srgbClr val="8FD4C1"/>
              </a:solidFill>
              <a:latin typeface="Cambria" panose="02040503050406030204" pitchFamily="34" charset="0"/>
              <a:ea typeface="Cambria" panose="02040503050406030204" pitchFamily="34" charset="-122"/>
              <a:cs typeface="Cambria" panose="02040503050406030204" pitchFamily="34" charset="-120"/>
            </a:endParaRPr>
          </a:p>
        </p:txBody>
      </p:sp>
      <p:sp>
        <p:nvSpPr>
          <p:cNvPr id="12" name="Text 10"/>
          <p:cNvSpPr txBox="1"/>
          <p:nvPr/>
        </p:nvSpPr>
        <p:spPr>
          <a:xfrm>
            <a:off x="6309360" y="3108960"/>
            <a:ext cx="2423160" cy="502920"/>
          </a:xfrm>
          <a:prstGeom prst="rect">
            <a:avLst/>
          </a:prstGeom>
          <a:noFill/>
        </p:spPr>
        <p:txBody>
          <a:bodyPr wrap="square" rtlCol="0" anchor="t"/>
          <a:lstStyle/>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Friedman test</a:t>
            </a:r>
            <a:endParaRPr lang="en-US" sz="1200" dirty="0"/>
          </a:p>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(model differences)</a:t>
            </a:r>
            <a:endPar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9052560" y="1920240"/>
            <a:ext cx="2606040" cy="1737360"/>
          </a:xfrm>
          <a:prstGeom prst="roundRect">
            <a:avLst>
              <a:gd name="adj" fmla="val 4211"/>
            </a:avLst>
          </a:prstGeom>
          <a:solidFill>
            <a:srgbClr val="0F4A5F"/>
          </a:solidFill>
        </p:spPr>
      </p:sp>
      <p:sp>
        <p:nvSpPr>
          <p:cNvPr id="14" name="Text 12"/>
          <p:cNvSpPr txBox="1"/>
          <p:nvPr/>
        </p:nvSpPr>
        <p:spPr>
          <a:xfrm>
            <a:off x="9052560" y="2057400"/>
            <a:ext cx="2606040" cy="1143000"/>
          </a:xfrm>
          <a:prstGeom prst="rect">
            <a:avLst/>
          </a:prstGeom>
          <a:noFill/>
        </p:spPr>
        <p:txBody>
          <a:bodyPr wrap="square"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96.4%</a:t>
            </a:r>
            <a:endPar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5" name="Text 13"/>
          <p:cNvSpPr txBox="1"/>
          <p:nvPr/>
        </p:nvSpPr>
        <p:spPr>
          <a:xfrm>
            <a:off x="9144000" y="3108960"/>
            <a:ext cx="2423160" cy="502920"/>
          </a:xfrm>
          <a:prstGeom prst="rect">
            <a:avLst/>
          </a:prstGeom>
          <a:noFill/>
        </p:spPr>
        <p:txBody>
          <a:bodyPr wrap="square" rtlCol="0" anchor="t"/>
          <a:lstStyle/>
          <a:p>
            <a:pPr marL="0" indent="0" algn="ctr">
              <a:buNone/>
            </a:pPr>
            <a:r>
              <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rPr>
              <a:t>High-risk recall</a:t>
            </a:r>
            <a:endParaRPr lang="en-US" sz="1200" dirty="0">
              <a:solidFill>
                <a:srgbClr val="C9D8DC"/>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txBox="1"/>
          <p:nvPr/>
        </p:nvSpPr>
        <p:spPr>
          <a:xfrm>
            <a:off x="640080" y="4160520"/>
            <a:ext cx="10881360" cy="1737360"/>
          </a:xfrm>
          <a:prstGeom prst="rect">
            <a:avLst/>
          </a:prstGeom>
          <a:noFill/>
        </p:spPr>
        <p:txBody>
          <a:bodyPr wrap="square" rtlCol="0" anchor="ctr"/>
          <a:lstStyle/>
          <a:p>
            <a:pPr marL="0" indent="0" algn="l">
              <a:lnSpc>
                <a:spcPct val="125000"/>
              </a:lnSpc>
              <a:buNone/>
            </a:pPr>
            <a:r>
              <a:rPr lang="en-US" sz="1600" dirty="0">
                <a:solidFill>
                  <a:srgbClr val="E4ECEE"/>
                </a:solidFill>
                <a:latin typeface="Calibri" panose="020F0502020204030204" pitchFamily="34" charset="0"/>
                <a:ea typeface="Calibri" panose="020F0502020204030204" pitchFamily="34" charset="-122"/>
                <a:cs typeface="Calibri" panose="020F0502020204030204" pitchFamily="34" charset="-120"/>
              </a:rPr>
              <a:t>Ensemble tree-based methods substantially outperform linear and neural baselines on this task. Blood glucose is the dominant predictor. The pipeline is reproducible and methodologically sound  but the model remains a research prototype, not a deployable clinical tool, pending external validation, fairness testing, and clinician review.</a:t>
            </a:r>
            <a:endParaRPr lang="en-US" sz="1600" dirty="0">
              <a:solidFill>
                <a:srgbClr val="E4ECEE"/>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18" name="Text 16"/>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07 · CONCLUSIONS</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Suggested Way Forward</a:t>
            </a:r>
            <a:endParaRPr lang="en-US" sz="3000" dirty="0"/>
          </a:p>
        </p:txBody>
      </p:sp>
      <p:sp>
        <p:nvSpPr>
          <p:cNvPr id="4" name="Shape 2"/>
          <p:cNvSpPr/>
          <p:nvPr/>
        </p:nvSpPr>
        <p:spPr>
          <a:xfrm>
            <a:off x="548640" y="1737360"/>
            <a:ext cx="457200" cy="457200"/>
          </a:xfrm>
          <a:prstGeom prst="roundRect">
            <a:avLst>
              <a:gd name="adj" fmla="val 50000"/>
            </a:avLst>
          </a:prstGeom>
          <a:solidFill>
            <a:srgbClr val="E76F51"/>
          </a:solidFill>
        </p:spPr>
      </p:sp>
      <p:sp>
        <p:nvSpPr>
          <p:cNvPr id="5" name="Text 3"/>
          <p:cNvSpPr txBox="1"/>
          <p:nvPr/>
        </p:nvSpPr>
        <p:spPr>
          <a:xfrm>
            <a:off x="548640" y="1737360"/>
            <a:ext cx="4572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1500" dirty="0"/>
          </a:p>
        </p:txBody>
      </p:sp>
      <p:sp>
        <p:nvSpPr>
          <p:cNvPr id="6" name="Text 4"/>
          <p:cNvSpPr txBox="1"/>
          <p:nvPr/>
        </p:nvSpPr>
        <p:spPr>
          <a:xfrm>
            <a:off x="1234440" y="1584325"/>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Collect a larger, multi-site dataset for proper external validation.</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548640" y="2633472"/>
            <a:ext cx="457200" cy="457200"/>
          </a:xfrm>
          <a:prstGeom prst="roundRect">
            <a:avLst>
              <a:gd name="adj" fmla="val 50000"/>
            </a:avLst>
          </a:prstGeom>
          <a:solidFill>
            <a:srgbClr val="E76F51"/>
          </a:solidFill>
        </p:spPr>
      </p:sp>
      <p:sp>
        <p:nvSpPr>
          <p:cNvPr id="8" name="Text 6"/>
          <p:cNvSpPr txBox="1"/>
          <p:nvPr/>
        </p:nvSpPr>
        <p:spPr>
          <a:xfrm>
            <a:off x="548640" y="2633472"/>
            <a:ext cx="4572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1500" dirty="0"/>
          </a:p>
        </p:txBody>
      </p:sp>
      <p:sp>
        <p:nvSpPr>
          <p:cNvPr id="9" name="Text 7"/>
          <p:cNvSpPr txBox="1"/>
          <p:nvPr/>
        </p:nvSpPr>
        <p:spPr>
          <a:xfrm>
            <a:off x="1234440" y="2480437"/>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Incorporate obstetric history and lab-confirmed diagnoses to strengthen the low/mid-risk boundary.</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48640" y="3529584"/>
            <a:ext cx="457200" cy="457200"/>
          </a:xfrm>
          <a:prstGeom prst="roundRect">
            <a:avLst>
              <a:gd name="adj" fmla="val 50000"/>
            </a:avLst>
          </a:prstGeom>
          <a:solidFill>
            <a:srgbClr val="E76F51"/>
          </a:solidFill>
        </p:spPr>
      </p:sp>
      <p:sp>
        <p:nvSpPr>
          <p:cNvPr id="11" name="Text 9"/>
          <p:cNvSpPr txBox="1"/>
          <p:nvPr/>
        </p:nvSpPr>
        <p:spPr>
          <a:xfrm>
            <a:off x="548640" y="3529584"/>
            <a:ext cx="4572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500" dirty="0"/>
          </a:p>
        </p:txBody>
      </p:sp>
      <p:sp>
        <p:nvSpPr>
          <p:cNvPr id="12" name="Text 10"/>
          <p:cNvSpPr txBox="1"/>
          <p:nvPr/>
        </p:nvSpPr>
        <p:spPr>
          <a:xfrm>
            <a:off x="1234440" y="3376549"/>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Conduct subgroup fairness analysis and probability calibration testing.</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548640" y="4425696"/>
            <a:ext cx="457200" cy="457200"/>
          </a:xfrm>
          <a:prstGeom prst="roundRect">
            <a:avLst>
              <a:gd name="adj" fmla="val 50000"/>
            </a:avLst>
          </a:prstGeom>
          <a:solidFill>
            <a:srgbClr val="E76F51"/>
          </a:solidFill>
        </p:spPr>
      </p:sp>
      <p:sp>
        <p:nvSpPr>
          <p:cNvPr id="14" name="Text 12"/>
          <p:cNvSpPr txBox="1"/>
          <p:nvPr/>
        </p:nvSpPr>
        <p:spPr>
          <a:xfrm>
            <a:off x="548640" y="4425696"/>
            <a:ext cx="4572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1500" dirty="0"/>
          </a:p>
        </p:txBody>
      </p:sp>
      <p:sp>
        <p:nvSpPr>
          <p:cNvPr id="15" name="Text 13"/>
          <p:cNvSpPr txBox="1"/>
          <p:nvPr/>
        </p:nvSpPr>
        <p:spPr>
          <a:xfrm>
            <a:off x="1234440" y="4272661"/>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Pursue clinician review as a clinician-in-the-loop decision-support aid , never autonomous diagnosis.</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48640" y="5321808"/>
            <a:ext cx="457200" cy="457200"/>
          </a:xfrm>
          <a:prstGeom prst="roundRect">
            <a:avLst>
              <a:gd name="adj" fmla="val 50000"/>
            </a:avLst>
          </a:prstGeom>
          <a:solidFill>
            <a:srgbClr val="E76F51"/>
          </a:solidFill>
        </p:spPr>
      </p:sp>
      <p:sp>
        <p:nvSpPr>
          <p:cNvPr id="17" name="Text 15"/>
          <p:cNvSpPr txBox="1"/>
          <p:nvPr/>
        </p:nvSpPr>
        <p:spPr>
          <a:xfrm>
            <a:off x="548640" y="5321808"/>
            <a:ext cx="457200" cy="457200"/>
          </a:xfrm>
          <a:prstGeom prst="rect">
            <a:avLst/>
          </a:prstGeom>
          <a:noFill/>
        </p:spPr>
        <p:txBody>
          <a:bodyPr wrap="square"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5</a:t>
            </a:r>
            <a:endParaRPr lang="en-US" sz="1500" dirty="0"/>
          </a:p>
        </p:txBody>
      </p:sp>
      <p:sp>
        <p:nvSpPr>
          <p:cNvPr id="18" name="Text 16"/>
          <p:cNvSpPr txBox="1"/>
          <p:nvPr/>
        </p:nvSpPr>
        <p:spPr>
          <a:xfrm>
            <a:off x="1234440" y="5168773"/>
            <a:ext cx="10424160" cy="777240"/>
          </a:xfrm>
          <a:prstGeom prst="rect">
            <a:avLst/>
          </a:prstGeom>
          <a:noFill/>
        </p:spPr>
        <p:txBody>
          <a:bodyPr wrap="square" rtlCol="0" anchor="ctr"/>
          <a:lstStyle/>
          <a:p>
            <a:pPr marL="0" indent="0">
              <a:buNone/>
            </a:pPr>
            <a:r>
              <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rPr>
              <a:t>Apply cost-sensitive learning to penalize the most dangerous error type (high-risk mislabeled as lower-risk).</a:t>
            </a:r>
            <a:endParaRPr lang="en-US" sz="1600" dirty="0">
              <a:solidFill>
                <a:srgbClr val="1B2B34"/>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20" name="Text 18"/>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p:spPr>
        <p:txBody>
          <a:bodyPr wrap="square" rtlCol="0" anchor="ctr"/>
          <a:lstStyle/>
          <a:p>
            <a:pPr marL="0" indent="0">
              <a:buNone/>
            </a:pPr>
            <a:r>
              <a:rPr lang="en-US" sz="1300" b="1" kern="0" spc="200" dirty="0">
                <a:solidFill>
                  <a:srgbClr val="E76F51"/>
                </a:solidFill>
                <a:latin typeface="Calibri" panose="020F0502020204030204" pitchFamily="34" charset="0"/>
                <a:ea typeface="Calibri" panose="020F0502020204030204" pitchFamily="34" charset="-122"/>
                <a:cs typeface="Calibri" panose="020F0502020204030204" pitchFamily="34" charset="-120"/>
              </a:rPr>
              <a:t>DEMONSTRATION</a:t>
            </a:r>
            <a:endParaRPr lang="en-US" sz="1300" dirty="0"/>
          </a:p>
        </p:txBody>
      </p:sp>
      <p:sp>
        <p:nvSpPr>
          <p:cNvPr id="3" name="Text 1"/>
          <p:cNvSpPr txBox="1"/>
          <p:nvPr/>
        </p:nvSpPr>
        <p:spPr>
          <a:xfrm>
            <a:off x="548640" y="713232"/>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Live Prediction Demonstration</a:t>
            </a:r>
            <a:endParaRPr lang="en-US" sz="3000" dirty="0"/>
          </a:p>
        </p:txBody>
      </p:sp>
      <p:sp>
        <p:nvSpPr>
          <p:cNvPr id="4" name="Shape 2"/>
          <p:cNvSpPr/>
          <p:nvPr/>
        </p:nvSpPr>
        <p:spPr>
          <a:xfrm>
            <a:off x="548640" y="1691640"/>
            <a:ext cx="5394960" cy="4251960"/>
          </a:xfrm>
          <a:prstGeom prst="roundRect">
            <a:avLst>
              <a:gd name="adj" fmla="val 1720"/>
            </a:avLst>
          </a:prstGeom>
          <a:solidFill>
            <a:srgbClr val="FFFFFF"/>
          </a:solidFill>
          <a:ln w="12700">
            <a:solidFill>
              <a:srgbClr val="DCE7EA"/>
            </a:solidFill>
            <a:prstDash val="solid"/>
          </a:ln>
        </p:spPr>
      </p:sp>
      <p:sp>
        <p:nvSpPr>
          <p:cNvPr id="5" name="Text 3"/>
          <p:cNvSpPr txBox="1"/>
          <p:nvPr/>
        </p:nvSpPr>
        <p:spPr>
          <a:xfrm>
            <a:off x="822960" y="1920240"/>
            <a:ext cx="4846320" cy="411480"/>
          </a:xfrm>
          <a:prstGeom prst="rect">
            <a:avLst/>
          </a:prstGeom>
          <a:noFill/>
        </p:spPr>
        <p:txBody>
          <a:bodyPr wrap="square" rtlCol="0" anchor="ctr"/>
          <a:lstStyle/>
          <a:p>
            <a:pPr marL="0" indent="0">
              <a:buNone/>
            </a:pPr>
            <a:r>
              <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rPr>
              <a:t>Example Input</a:t>
            </a:r>
            <a:endParaRPr lang="en-US" sz="1600" b="1" dirty="0">
              <a:solidFill>
                <a:srgbClr val="0B3D57"/>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4"/>
          <p:cNvSpPr txBox="1"/>
          <p:nvPr/>
        </p:nvSpPr>
        <p:spPr>
          <a:xfrm>
            <a:off x="822960" y="2423160"/>
            <a:ext cx="3108960" cy="45720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Age</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txBox="1"/>
          <p:nvPr/>
        </p:nvSpPr>
        <p:spPr>
          <a:xfrm>
            <a:off x="3931920" y="2423160"/>
            <a:ext cx="1737360" cy="457200"/>
          </a:xfrm>
          <a:prstGeom prst="rect">
            <a:avLst/>
          </a:prstGeom>
          <a:noFill/>
        </p:spPr>
        <p:txBody>
          <a:bodyPr wrap="square" rtlCol="0" anchor="ctr"/>
          <a:lstStyle/>
          <a:p>
            <a:pPr marL="0" indent="0" algn="r">
              <a:buNone/>
            </a:pPr>
            <a:r>
              <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rPr>
              <a:t>35</a:t>
            </a:r>
            <a:endPar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8" name="Text 6"/>
          <p:cNvSpPr txBox="1"/>
          <p:nvPr/>
        </p:nvSpPr>
        <p:spPr>
          <a:xfrm>
            <a:off x="822960" y="2953512"/>
            <a:ext cx="3108960" cy="45720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Systolic BP</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txBox="1"/>
          <p:nvPr/>
        </p:nvSpPr>
        <p:spPr>
          <a:xfrm>
            <a:off x="3931920" y="2953512"/>
            <a:ext cx="1737360" cy="457200"/>
          </a:xfrm>
          <a:prstGeom prst="rect">
            <a:avLst/>
          </a:prstGeom>
          <a:noFill/>
        </p:spPr>
        <p:txBody>
          <a:bodyPr wrap="square" rtlCol="0" anchor="ctr"/>
          <a:lstStyle/>
          <a:p>
            <a:pPr marL="0" indent="0" algn="r">
              <a:buNone/>
            </a:pPr>
            <a:r>
              <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rPr>
              <a:t>140</a:t>
            </a:r>
            <a:endPar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0" name="Text 8"/>
          <p:cNvSpPr txBox="1"/>
          <p:nvPr/>
        </p:nvSpPr>
        <p:spPr>
          <a:xfrm>
            <a:off x="822960" y="3483864"/>
            <a:ext cx="3108960" cy="45720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Diastolic BP</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txBox="1"/>
          <p:nvPr/>
        </p:nvSpPr>
        <p:spPr>
          <a:xfrm>
            <a:off x="3931920" y="3483864"/>
            <a:ext cx="1737360" cy="457200"/>
          </a:xfrm>
          <a:prstGeom prst="rect">
            <a:avLst/>
          </a:prstGeom>
          <a:noFill/>
        </p:spPr>
        <p:txBody>
          <a:bodyPr wrap="square" rtlCol="0" anchor="ctr"/>
          <a:lstStyle/>
          <a:p>
            <a:pPr marL="0" indent="0" algn="r">
              <a:buNone/>
            </a:pPr>
            <a:r>
              <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rPr>
              <a:t>95</a:t>
            </a:r>
            <a:endPar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2" name="Text 10"/>
          <p:cNvSpPr txBox="1"/>
          <p:nvPr/>
        </p:nvSpPr>
        <p:spPr>
          <a:xfrm>
            <a:off x="822960" y="4014216"/>
            <a:ext cx="3108960" cy="45720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Blood Sugar (BS)</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txBox="1"/>
          <p:nvPr/>
        </p:nvSpPr>
        <p:spPr>
          <a:xfrm>
            <a:off x="3931920" y="4014216"/>
            <a:ext cx="1737360" cy="457200"/>
          </a:xfrm>
          <a:prstGeom prst="rect">
            <a:avLst/>
          </a:prstGeom>
          <a:noFill/>
        </p:spPr>
        <p:txBody>
          <a:bodyPr wrap="square" rtlCol="0" anchor="ctr"/>
          <a:lstStyle/>
          <a:p>
            <a:pPr marL="0" indent="0" algn="r">
              <a:buNone/>
            </a:pPr>
            <a:r>
              <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rPr>
              <a:t>8.5</a:t>
            </a:r>
            <a:endPar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4" name="Text 12"/>
          <p:cNvSpPr txBox="1"/>
          <p:nvPr/>
        </p:nvSpPr>
        <p:spPr>
          <a:xfrm>
            <a:off x="822960" y="4544568"/>
            <a:ext cx="3108960" cy="45720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Body Temp</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txBox="1"/>
          <p:nvPr/>
        </p:nvSpPr>
        <p:spPr>
          <a:xfrm>
            <a:off x="3931920" y="4544568"/>
            <a:ext cx="1737360" cy="457200"/>
          </a:xfrm>
          <a:prstGeom prst="rect">
            <a:avLst/>
          </a:prstGeom>
          <a:noFill/>
        </p:spPr>
        <p:txBody>
          <a:bodyPr wrap="square" rtlCol="0" anchor="ctr"/>
          <a:lstStyle/>
          <a:p>
            <a:pPr marL="0" indent="0" algn="r">
              <a:buNone/>
            </a:pPr>
            <a:r>
              <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rPr>
              <a:t>98.6</a:t>
            </a:r>
            <a:endPar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6" name="Text 14"/>
          <p:cNvSpPr txBox="1"/>
          <p:nvPr/>
        </p:nvSpPr>
        <p:spPr>
          <a:xfrm>
            <a:off x="822960" y="5074920"/>
            <a:ext cx="3108960" cy="457200"/>
          </a:xfrm>
          <a:prstGeom prst="rect">
            <a:avLst/>
          </a:prstGeom>
          <a:noFill/>
        </p:spPr>
        <p:txBody>
          <a:bodyPr wrap="square" rtlCol="0" anchor="ctr"/>
          <a:lstStyle/>
          <a:p>
            <a:pPr marL="0" indent="0">
              <a:buNone/>
            </a:pPr>
            <a:r>
              <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rPr>
              <a:t>Heart Rate</a:t>
            </a:r>
            <a:endParaRPr lang="en-US" sz="1400" dirty="0">
              <a:solidFill>
                <a:srgbClr val="5B6B73"/>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txBox="1"/>
          <p:nvPr/>
        </p:nvSpPr>
        <p:spPr>
          <a:xfrm>
            <a:off x="3931920" y="5074920"/>
            <a:ext cx="1737360" cy="457200"/>
          </a:xfrm>
          <a:prstGeom prst="rect">
            <a:avLst/>
          </a:prstGeom>
          <a:noFill/>
        </p:spPr>
        <p:txBody>
          <a:bodyPr wrap="square" rtlCol="0" anchor="ctr"/>
          <a:lstStyle/>
          <a:p>
            <a:pPr marL="0" indent="0" algn="r">
              <a:buNone/>
            </a:pPr>
            <a:r>
              <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rPr>
              <a:t>88</a:t>
            </a:r>
            <a:endParaRPr lang="en-US" sz="1600" b="1" dirty="0">
              <a:solidFill>
                <a:srgbClr val="1B2B34"/>
              </a:solidFill>
              <a:latin typeface="Courier New" panose="02070309020205020404" pitchFamily="34" charset="0"/>
              <a:ea typeface="Courier New" panose="02070309020205020404" pitchFamily="34" charset="-122"/>
              <a:cs typeface="Courier New" panose="02070309020205020404" pitchFamily="34" charset="-120"/>
            </a:endParaRPr>
          </a:p>
        </p:txBody>
      </p:sp>
      <p:sp>
        <p:nvSpPr>
          <p:cNvPr id="18" name="Shape 16"/>
          <p:cNvSpPr/>
          <p:nvPr/>
        </p:nvSpPr>
        <p:spPr>
          <a:xfrm>
            <a:off x="6172200" y="1691640"/>
            <a:ext cx="5486400" cy="4251960"/>
          </a:xfrm>
          <a:prstGeom prst="roundRect">
            <a:avLst>
              <a:gd name="adj" fmla="val 1720"/>
            </a:avLst>
          </a:prstGeom>
          <a:solidFill>
            <a:srgbClr val="07293C"/>
          </a:solidFill>
        </p:spPr>
      </p:sp>
      <p:sp>
        <p:nvSpPr>
          <p:cNvPr id="19" name="Text 17"/>
          <p:cNvSpPr txBox="1"/>
          <p:nvPr/>
        </p:nvSpPr>
        <p:spPr>
          <a:xfrm>
            <a:off x="6400800" y="1920240"/>
            <a:ext cx="5029200" cy="365760"/>
          </a:xfrm>
          <a:prstGeom prst="rect">
            <a:avLst/>
          </a:prstGeom>
          <a:noFill/>
        </p:spPr>
        <p:txBody>
          <a:bodyPr wrap="square" rtlCol="0" anchor="ctr"/>
          <a:lstStyle/>
          <a:p>
            <a:pPr marL="0" indent="0">
              <a:buNone/>
            </a:pPr>
            <a:r>
              <a:rPr lang="en-US" sz="1400" b="1" kern="0" spc="100" dirty="0">
                <a:solidFill>
                  <a:srgbClr val="8FD4C1"/>
                </a:solidFill>
                <a:latin typeface="Calibri" panose="020F0502020204030204" pitchFamily="34" charset="0"/>
                <a:ea typeface="Calibri" panose="020F0502020204030204" pitchFamily="34" charset="-122"/>
                <a:cs typeface="Calibri" panose="020F0502020204030204" pitchFamily="34" charset="-120"/>
              </a:rPr>
              <a:t>Random Forest Prediction</a:t>
            </a:r>
            <a:endParaRPr lang="en-US" sz="1400" b="1" kern="0" spc="100" dirty="0">
              <a:solidFill>
                <a:srgbClr val="8FD4C1"/>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txBox="1"/>
          <p:nvPr/>
        </p:nvSpPr>
        <p:spPr>
          <a:xfrm>
            <a:off x="6400800" y="2286000"/>
            <a:ext cx="5029200" cy="822960"/>
          </a:xfrm>
          <a:prstGeom prst="rect">
            <a:avLst/>
          </a:prstGeom>
          <a:noFill/>
        </p:spPr>
        <p:txBody>
          <a:bodyPr wrap="square" rtlCol="0" anchor="ctr"/>
          <a:lstStyle/>
          <a:p>
            <a:pPr marL="0" indent="0">
              <a:buNone/>
            </a:pPr>
            <a:r>
              <a:rPr lang="en-US" sz="4400" b="1" dirty="0">
                <a:solidFill>
                  <a:srgbClr val="E76F51"/>
                </a:solidFill>
                <a:latin typeface="Cambria" panose="02040503050406030204" pitchFamily="34" charset="0"/>
                <a:ea typeface="Cambria" panose="02040503050406030204" pitchFamily="34" charset="-122"/>
                <a:cs typeface="Cambria" panose="02040503050406030204" pitchFamily="34" charset="-120"/>
              </a:rPr>
              <a:t>HIGH RISK</a:t>
            </a:r>
            <a:endParaRPr lang="en-US" sz="4400" b="1" dirty="0">
              <a:solidFill>
                <a:srgbClr val="E76F51"/>
              </a:solidFill>
              <a:latin typeface="Cambria" panose="02040503050406030204" pitchFamily="34" charset="0"/>
              <a:ea typeface="Cambria" panose="02040503050406030204" pitchFamily="34" charset="-122"/>
              <a:cs typeface="Cambria" panose="02040503050406030204" pitchFamily="34" charset="-120"/>
            </a:endParaRPr>
          </a:p>
        </p:txBody>
      </p:sp>
      <p:sp>
        <p:nvSpPr>
          <p:cNvPr id="21" name="Text 19"/>
          <p:cNvSpPr txBox="1"/>
          <p:nvPr/>
        </p:nvSpPr>
        <p:spPr>
          <a:xfrm>
            <a:off x="6400800" y="3291840"/>
            <a:ext cx="914400" cy="457200"/>
          </a:xfrm>
          <a:prstGeom prst="rect">
            <a:avLst/>
          </a:prstGeom>
          <a:noFill/>
        </p:spPr>
        <p:txBody>
          <a:bodyPr wrap="square" rtlCol="0" anchor="ctr"/>
          <a:lstStyle/>
          <a:p>
            <a:pPr marL="0" indent="0">
              <a:buNone/>
            </a:pPr>
            <a:r>
              <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rPr>
              <a:t>High</a:t>
            </a:r>
            <a:endPar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Shape 20"/>
          <p:cNvSpPr/>
          <p:nvPr/>
        </p:nvSpPr>
        <p:spPr>
          <a:xfrm>
            <a:off x="7360920" y="3383280"/>
            <a:ext cx="4206240" cy="274320"/>
          </a:xfrm>
          <a:prstGeom prst="roundRect">
            <a:avLst>
              <a:gd name="adj" fmla="val 10000"/>
            </a:avLst>
          </a:prstGeom>
          <a:solidFill>
            <a:srgbClr val="0F4A5F"/>
          </a:solidFill>
        </p:spPr>
      </p:sp>
      <p:sp>
        <p:nvSpPr>
          <p:cNvPr id="23" name="Shape 21"/>
          <p:cNvSpPr/>
          <p:nvPr/>
        </p:nvSpPr>
        <p:spPr>
          <a:xfrm>
            <a:off x="7360920" y="3383280"/>
            <a:ext cx="3991722" cy="274320"/>
          </a:xfrm>
          <a:prstGeom prst="roundRect">
            <a:avLst>
              <a:gd name="adj" fmla="val 10000"/>
            </a:avLst>
          </a:prstGeom>
          <a:solidFill>
            <a:srgbClr val="E76F51"/>
          </a:solidFill>
        </p:spPr>
      </p:sp>
      <p:sp>
        <p:nvSpPr>
          <p:cNvPr id="24" name="Text 22"/>
          <p:cNvSpPr txBox="1"/>
          <p:nvPr/>
        </p:nvSpPr>
        <p:spPr>
          <a:xfrm>
            <a:off x="7360920" y="3291840"/>
            <a:ext cx="4206240" cy="457200"/>
          </a:xfrm>
          <a:prstGeom prst="rect">
            <a:avLst/>
          </a:prstGeom>
          <a:noFill/>
        </p:spPr>
        <p:txBody>
          <a:bodyPr wrap="square" rtlCol="0" anchor="ctr"/>
          <a:lstStyle/>
          <a:p>
            <a:pPr marL="0" indent="0" algn="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94.9%</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txBox="1"/>
          <p:nvPr/>
        </p:nvSpPr>
        <p:spPr>
          <a:xfrm>
            <a:off x="6400800" y="3858768"/>
            <a:ext cx="914400" cy="457200"/>
          </a:xfrm>
          <a:prstGeom prst="rect">
            <a:avLst/>
          </a:prstGeom>
          <a:noFill/>
        </p:spPr>
        <p:txBody>
          <a:bodyPr wrap="square" rtlCol="0" anchor="ctr"/>
          <a:lstStyle/>
          <a:p>
            <a:pPr marL="0" indent="0">
              <a:buNone/>
            </a:pPr>
            <a:r>
              <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rPr>
              <a:t>Mid</a:t>
            </a:r>
            <a:endPar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7360920" y="3950208"/>
            <a:ext cx="4206240" cy="274320"/>
          </a:xfrm>
          <a:prstGeom prst="roundRect">
            <a:avLst>
              <a:gd name="adj" fmla="val 10000"/>
            </a:avLst>
          </a:prstGeom>
          <a:solidFill>
            <a:srgbClr val="0F4A5F"/>
          </a:solidFill>
        </p:spPr>
      </p:sp>
      <p:sp>
        <p:nvSpPr>
          <p:cNvPr id="27" name="Shape 25"/>
          <p:cNvSpPr/>
          <p:nvPr/>
        </p:nvSpPr>
        <p:spPr>
          <a:xfrm>
            <a:off x="7360920" y="3950208"/>
            <a:ext cx="109362" cy="274320"/>
          </a:xfrm>
          <a:prstGeom prst="roundRect">
            <a:avLst>
              <a:gd name="adj" fmla="val 25084"/>
            </a:avLst>
          </a:prstGeom>
          <a:solidFill>
            <a:srgbClr val="3E7C8C"/>
          </a:solidFill>
        </p:spPr>
      </p:sp>
      <p:sp>
        <p:nvSpPr>
          <p:cNvPr id="28" name="Text 26"/>
          <p:cNvSpPr txBox="1"/>
          <p:nvPr/>
        </p:nvSpPr>
        <p:spPr>
          <a:xfrm>
            <a:off x="7360920" y="3858768"/>
            <a:ext cx="4206240" cy="457200"/>
          </a:xfrm>
          <a:prstGeom prst="rect">
            <a:avLst/>
          </a:prstGeom>
          <a:noFill/>
        </p:spPr>
        <p:txBody>
          <a:bodyPr wrap="square" rtlCol="0" anchor="ctr"/>
          <a:lstStyle/>
          <a:p>
            <a:pPr marL="0" indent="0" algn="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2.6%</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txBox="1"/>
          <p:nvPr/>
        </p:nvSpPr>
        <p:spPr>
          <a:xfrm>
            <a:off x="6400800" y="4425696"/>
            <a:ext cx="914400" cy="457200"/>
          </a:xfrm>
          <a:prstGeom prst="rect">
            <a:avLst/>
          </a:prstGeom>
          <a:noFill/>
        </p:spPr>
        <p:txBody>
          <a:bodyPr wrap="square" rtlCol="0" anchor="ctr"/>
          <a:lstStyle/>
          <a:p>
            <a:pPr marL="0" indent="0">
              <a:buNone/>
            </a:pPr>
            <a:r>
              <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rPr>
              <a:t>Low</a:t>
            </a:r>
            <a:endParaRPr lang="en-US" sz="1400" dirty="0">
              <a:solidFill>
                <a:srgbClr val="E4ECEE"/>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Shape 28"/>
          <p:cNvSpPr/>
          <p:nvPr/>
        </p:nvSpPr>
        <p:spPr>
          <a:xfrm>
            <a:off x="7360920" y="4517136"/>
            <a:ext cx="4206240" cy="274320"/>
          </a:xfrm>
          <a:prstGeom prst="roundRect">
            <a:avLst>
              <a:gd name="adj" fmla="val 10000"/>
            </a:avLst>
          </a:prstGeom>
          <a:solidFill>
            <a:srgbClr val="0F4A5F"/>
          </a:solidFill>
        </p:spPr>
      </p:sp>
      <p:sp>
        <p:nvSpPr>
          <p:cNvPr id="31" name="Shape 29"/>
          <p:cNvSpPr/>
          <p:nvPr/>
        </p:nvSpPr>
        <p:spPr>
          <a:xfrm>
            <a:off x="7360920" y="4517136"/>
            <a:ext cx="105156" cy="274320"/>
          </a:xfrm>
          <a:prstGeom prst="roundRect">
            <a:avLst>
              <a:gd name="adj" fmla="val 26087"/>
            </a:avLst>
          </a:prstGeom>
          <a:solidFill>
            <a:srgbClr val="3E7C8C"/>
          </a:solidFill>
        </p:spPr>
      </p:sp>
      <p:sp>
        <p:nvSpPr>
          <p:cNvPr id="32" name="Text 30"/>
          <p:cNvSpPr txBox="1"/>
          <p:nvPr/>
        </p:nvSpPr>
        <p:spPr>
          <a:xfrm>
            <a:off x="7360920" y="4425696"/>
            <a:ext cx="4206240" cy="457200"/>
          </a:xfrm>
          <a:prstGeom prst="rect">
            <a:avLst/>
          </a:prstGeom>
          <a:noFill/>
        </p:spPr>
        <p:txBody>
          <a:bodyPr wrap="square" rtlCol="0" anchor="ctr"/>
          <a:lstStyle/>
          <a:p>
            <a:pPr marL="0" indent="0" algn="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2.5%</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6400800" y="5074920"/>
            <a:ext cx="4846320" cy="0"/>
          </a:xfrm>
          <a:prstGeom prst="line">
            <a:avLst/>
          </a:prstGeom>
          <a:noFill/>
          <a:ln w="12700">
            <a:solidFill>
              <a:srgbClr val="3E7C8C"/>
            </a:solidFill>
            <a:prstDash val="solid"/>
          </a:ln>
        </p:spPr>
      </p:sp>
      <p:sp>
        <p:nvSpPr>
          <p:cNvPr id="34" name="Text 32"/>
          <p:cNvSpPr txBox="1"/>
          <p:nvPr/>
        </p:nvSpPr>
        <p:spPr>
          <a:xfrm>
            <a:off x="6400800" y="5212080"/>
            <a:ext cx="5029200" cy="640080"/>
          </a:xfrm>
          <a:prstGeom prst="rect">
            <a:avLst/>
          </a:prstGeom>
          <a:noFill/>
        </p:spPr>
        <p:txBody>
          <a:bodyPr wrap="square" rtlCol="0" anchor="ctr"/>
          <a:lstStyle/>
          <a:p>
            <a:pPr marL="0" indent="0">
              <a:buNone/>
            </a:pPr>
            <a:r>
              <a:rPr lang="en-US" sz="1400" i="1" dirty="0">
                <a:solidFill>
                  <a:srgbClr val="C9D8DC"/>
                </a:solidFill>
                <a:latin typeface="Calibri" panose="020F0502020204030204" pitchFamily="34" charset="0"/>
                <a:ea typeface="Calibri" panose="020F0502020204030204" pitchFamily="34" charset="-122"/>
                <a:cs typeface="Calibri" panose="020F0502020204030204" pitchFamily="34" charset="-120"/>
              </a:rPr>
              <a:t>Technical demonstration only  not a clinical recommendation.</a:t>
            </a:r>
            <a:endParaRPr lang="en-US" sz="1400" i="1" dirty="0">
              <a:solidFill>
                <a:srgbClr val="C9D8DC"/>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36" name="Text 34"/>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822960"/>
          </a:xfrm>
          <a:prstGeom prst="rect">
            <a:avLst/>
          </a:prstGeom>
          <a:noFill/>
        </p:spPr>
        <p:txBody>
          <a:bodyPr wrap="square" rtlCol="0" anchor="ctr"/>
          <a:lstStyle/>
          <a:p>
            <a:pPr marL="0" indent="0">
              <a:buNone/>
            </a:pPr>
            <a:r>
              <a:rPr lang="en-US" sz="3000" b="1" dirty="0">
                <a:solidFill>
                  <a:srgbClr val="1B2B34"/>
                </a:solidFill>
                <a:latin typeface="Cambria" panose="02040503050406030204" pitchFamily="34" charset="0"/>
                <a:ea typeface="Cambria" panose="02040503050406030204" pitchFamily="34" charset="-122"/>
                <a:cs typeface="Cambria" panose="02040503050406030204" pitchFamily="34" charset="-120"/>
              </a:rPr>
              <a:t>References</a:t>
            </a:r>
            <a:endParaRPr lang="en-US" sz="3000" dirty="0"/>
          </a:p>
        </p:txBody>
      </p:sp>
      <p:sp>
        <p:nvSpPr>
          <p:cNvPr id="3" name="Text 1"/>
          <p:cNvSpPr txBox="1"/>
          <p:nvPr/>
        </p:nvSpPr>
        <p:spPr>
          <a:xfrm>
            <a:off x="548640" y="1645920"/>
            <a:ext cx="11064240" cy="4572000"/>
          </a:xfrm>
          <a:prstGeom prst="rect">
            <a:avLst/>
          </a:prstGeom>
          <a:noFill/>
        </p:spPr>
        <p:txBody>
          <a:bodyPr wrap="square" rtlCol="0" anchor="t"/>
          <a:lstStyle/>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[1] M. Ahmed, M. A. Kashem, M. Rahman, and S. Khatun, "Review and Analysis of Risk Factor of Maternal Health in Remote Area Using the Internet of Things (IoT)," in InECCE2019, LNEE vol. 632, Springer, 2020, pp. 357-365.</a:t>
            </a:r>
            <a:endParaRPr lang="en-US" sz="1250" dirty="0"/>
          </a:p>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[2] M. Ahmed and M. A. Kashem, "IoT Based Risk Level Prediction Model For Maternal Health Care In The Context Of Bangladesh," in 2020 2nd Int. Conf. Sustainable Technologies for Industry 4.0 (STI), 2020, pp. 1-6.</a:t>
            </a:r>
            <a:endParaRPr lang="en-US" sz="1250" dirty="0"/>
          </a:p>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[3] T. O. Togunwa, A. O. Babatunde, and K.-R. Abdullah, "Deep hybrid model for maternal health risk classification in pregnancy," Frontiers in Artificial Intelligence, vol. 6, 2023.</a:t>
            </a:r>
            <a:endParaRPr lang="en-US" sz="1250" dirty="0"/>
          </a:p>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[4] M. Assaduzzaman, A. Al Mamun, and M. Hasan, "Early Prediction of Maternal Health Risk Factors Using Machine Learning Techniques," in 2023 ICONAT, Goa, India, 2023.</a:t>
            </a:r>
            <a:endParaRPr lang="en-US" sz="1250" dirty="0"/>
          </a:p>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[5] M. Ahmed, "Maternal Health Risk," UCI Machine Learning Repository, 2020. doi: 10.24432/C5DP5D</a:t>
            </a:r>
            <a:endParaRPr lang="en-US" sz="1250" dirty="0"/>
          </a:p>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[6] F. Pedregosa et al., "Scikit-learn: Machine Learning in Python," JMLR, vol. 12, pp. 2825-2830, 2011.</a:t>
            </a:r>
            <a:endParaRPr lang="en-US" sz="1250" dirty="0"/>
          </a:p>
          <a:p>
            <a:pPr marL="0" indent="0">
              <a:spcAft>
                <a:spcPts val="1000"/>
              </a:spcAft>
              <a:buNone/>
            </a:pPr>
            <a:r>
              <a:rPr lang="en-US" sz="1250" dirty="0">
                <a:solidFill>
                  <a:srgbClr val="1B2B34"/>
                </a:solidFill>
                <a:latin typeface="Calibri" panose="020F0502020204030204" pitchFamily="34" charset="0"/>
                <a:ea typeface="Calibri" panose="020F0502020204030204" pitchFamily="34" charset="-122"/>
                <a:cs typeface="Calibri" panose="020F0502020204030204" pitchFamily="34" charset="-120"/>
              </a:rPr>
              <a:t>[7] M. Friedman, "The Use of Ranks to Avoid the Assumption of Normality Implicit in the Analysis of Variance," JASA, vol. 32, no. 200, pp. 675-701, 1937.</a:t>
            </a:r>
            <a:endParaRPr lang="en-US" sz="1250" dirty="0"/>
          </a:p>
        </p:txBody>
      </p:sp>
      <p:sp>
        <p:nvSpPr>
          <p:cNvPr id="4" name="Text 2"/>
          <p:cNvSpPr txBox="1"/>
          <p:nvPr/>
        </p:nvSpPr>
        <p:spPr>
          <a:xfrm>
            <a:off x="457200" y="6473952"/>
            <a:ext cx="7315200" cy="274320"/>
          </a:xfrm>
          <a:prstGeom prst="rect">
            <a:avLst/>
          </a:prstGeom>
          <a:noFill/>
        </p:spPr>
        <p:txBody>
          <a:bodyPr wrap="square" rtlCol="0" anchor="ctr"/>
          <a:lstStyle/>
          <a:p>
            <a:pPr marL="0" indent="0" algn="l">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Maternal Health Risk Stratification</a:t>
            </a:r>
            <a:endParaRPr lang="en-US" sz="900" dirty="0"/>
          </a:p>
        </p:txBody>
      </p:sp>
      <p:sp>
        <p:nvSpPr>
          <p:cNvPr id="5" name="Text 3"/>
          <p:cNvSpPr txBox="1"/>
          <p:nvPr/>
        </p:nvSpPr>
        <p:spPr>
          <a:xfrm>
            <a:off x="11277295" y="6473952"/>
            <a:ext cx="457200" cy="274320"/>
          </a:xfrm>
          <a:prstGeom prst="rect">
            <a:avLst/>
          </a:prstGeom>
          <a:noFill/>
        </p:spPr>
        <p:txBody>
          <a:bodyPr wrap="square" rtlCol="0" anchor="ctr"/>
          <a:lstStyle/>
          <a:p>
            <a:pPr marL="0" indent="0" algn="r">
              <a:buNone/>
            </a:pPr>
            <a:r>
              <a:rPr lang="en-US" sz="900" dirty="0">
                <a:solidFill>
                  <a:srgbClr val="5B6B73"/>
                </a:solidFill>
                <a:latin typeface="Calibri" panose="020F0502020204030204" pitchFamily="34" charset="0"/>
                <a:ea typeface="Calibri" panose="020F0502020204030204" pitchFamily="34" charset="-122"/>
                <a:cs typeface="Calibri" panose="020F0502020204030204"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7293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3E7C8C">
              <a:alpha val="22000"/>
            </a:srgbClr>
          </a:solidFill>
        </p:spPr>
      </p:sp>
      <p:sp>
        <p:nvSpPr>
          <p:cNvPr id="3" name="Shape 1"/>
          <p:cNvSpPr/>
          <p:nvPr/>
        </p:nvSpPr>
        <p:spPr>
          <a:xfrm>
            <a:off x="-1828800" y="4389120"/>
            <a:ext cx="4572000" cy="4572000"/>
          </a:xfrm>
          <a:prstGeom prst="ellipse">
            <a:avLst/>
          </a:prstGeom>
          <a:solidFill>
            <a:srgbClr val="E76F51">
              <a:alpha val="18000"/>
            </a:srgbClr>
          </a:solidFill>
        </p:spPr>
      </p:sp>
      <p:sp>
        <p:nvSpPr>
          <p:cNvPr id="4" name="Text 2"/>
          <p:cNvSpPr txBox="1"/>
          <p:nvPr/>
        </p:nvSpPr>
        <p:spPr>
          <a:xfrm>
            <a:off x="640080" y="2651760"/>
            <a:ext cx="10881360" cy="1097280"/>
          </a:xfrm>
          <a:prstGeom prst="rect">
            <a:avLst/>
          </a:prstGeom>
          <a:noFill/>
        </p:spPr>
        <p:txBody>
          <a:bodyPr wrap="square"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400" dirty="0"/>
          </a:p>
        </p:txBody>
      </p:sp>
      <p:sp>
        <p:nvSpPr>
          <p:cNvPr id="5" name="Text 3"/>
          <p:cNvSpPr txBox="1"/>
          <p:nvPr/>
        </p:nvSpPr>
        <p:spPr>
          <a:xfrm>
            <a:off x="640080" y="3611880"/>
            <a:ext cx="10881360" cy="548640"/>
          </a:xfrm>
          <a:prstGeom prst="rect">
            <a:avLst/>
          </a:prstGeom>
          <a:noFill/>
        </p:spPr>
        <p:txBody>
          <a:bodyPr wrap="square" rtlCol="0" anchor="ctr"/>
          <a:lstStyle/>
          <a:p>
            <a:pPr marL="0" indent="0">
              <a:buNone/>
            </a:pPr>
            <a:r>
              <a:rPr lang="en-US" sz="1800" i="1" dirty="0">
                <a:solidFill>
                  <a:srgbClr val="8FD4C1"/>
                </a:solidFill>
                <a:latin typeface="Calibri" panose="020F0502020204030204" pitchFamily="34" charset="0"/>
                <a:ea typeface="Calibri" panose="020F0502020204030204" pitchFamily="34" charset="-122"/>
                <a:cs typeface="Calibri" panose="020F0502020204030204" pitchFamily="34" charset="-120"/>
              </a:rPr>
              <a:t>Questions &amp; Discussion</a:t>
            </a:r>
            <a:endParaRPr lang="en-US" sz="1800" dirty="0"/>
          </a:p>
        </p:txBody>
      </p:sp>
      <p:sp>
        <p:nvSpPr>
          <p:cNvPr id="6" name="Shape 4"/>
          <p:cNvSpPr/>
          <p:nvPr/>
        </p:nvSpPr>
        <p:spPr>
          <a:xfrm>
            <a:off x="640080" y="4343400"/>
            <a:ext cx="3840480" cy="0"/>
          </a:xfrm>
          <a:prstGeom prst="line">
            <a:avLst/>
          </a:prstGeom>
          <a:noFill/>
          <a:ln w="25400">
            <a:solidFill>
              <a:srgbClr val="E76F51"/>
            </a:solidFill>
            <a:prstDash val="solid"/>
          </a:ln>
        </p:spPr>
      </p:sp>
      <p:sp>
        <p:nvSpPr>
          <p:cNvPr id="7" name="Text 5"/>
          <p:cNvSpPr txBox="1"/>
          <p:nvPr/>
        </p:nvSpPr>
        <p:spPr>
          <a:xfrm>
            <a:off x="640080" y="4572000"/>
            <a:ext cx="9144000" cy="457200"/>
          </a:xfrm>
          <a:prstGeom prst="rect">
            <a:avLst/>
          </a:prstGeom>
          <a:noFill/>
        </p:spPr>
        <p:txBody>
          <a:bodyPr wrap="square" rtlCol="0" anchor="ctr"/>
          <a:lstStyle/>
          <a:p>
            <a:pPr marL="0" indent="0">
              <a:buNone/>
            </a:pPr>
            <a:r>
              <a:rPr lang="en-US" sz="1300" dirty="0">
                <a:solidFill>
                  <a:srgbClr val="C9D8DC"/>
                </a:solidFill>
                <a:latin typeface="Calibri" panose="020F0502020204030204" pitchFamily="34" charset="0"/>
                <a:ea typeface="Calibri" panose="020F0502020204030204" pitchFamily="34" charset="-122"/>
                <a:cs typeface="Calibri" panose="020F0502020204030204" pitchFamily="34" charset="-120"/>
              </a:rPr>
              <a:t>Yabets Desalegn  ·  GSE9850/18  ·  Data Management and Engineering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15269</Words>
  <Application>WPS Presentation</Application>
  <PresentationFormat>On-screen Show (16:9)</PresentationFormat>
  <Paragraphs>877</Paragraphs>
  <Slides>30</Slides>
  <Notes>30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30</vt:i4>
      </vt:variant>
    </vt:vector>
  </HeadingPairs>
  <TitlesOfParts>
    <vt:vector size="45"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DME Project Presentation</dc:title>
  <dc:subject>Data Managment and Enginering</dc:subject>
  <dc:creator>Yabets Desalegn</dc:creator>
  <cp:lastModifiedBy>Yabets Desalegn</cp:lastModifiedBy>
  <cp:revision>7</cp:revision>
  <dcterms:created xsi:type="dcterms:W3CDTF">2026-09-03T07:59:00Z</dcterms:created>
  <dcterms:modified xsi:type="dcterms:W3CDTF">2026-09-05T05:44:20Z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35FAD6468069478EB28BE2E412F4679F_12</vt:lpwstr>
  </property>
  <property fmtid="{D5CDD505-2E9C-101B-9397-08002B2CF9AE}" pid="3" name="KSOProductBuildVer">
    <vt:lpwstr>1033-12.1.0.28032</vt:lpwstr>
  </property>
</Properties>
</file>